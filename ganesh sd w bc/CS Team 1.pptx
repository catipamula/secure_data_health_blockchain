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40" r:id="rId1"/>
  </p:sldMasterIdLst>
  <p:notesMasterIdLst>
    <p:notesMasterId r:id="rId31"/>
  </p:notesMasterIdLst>
  <p:sldIdLst>
    <p:sldId id="257" r:id="rId2"/>
    <p:sldId id="276" r:id="rId3"/>
    <p:sldId id="259" r:id="rId4"/>
    <p:sldId id="262" r:id="rId5"/>
    <p:sldId id="261" r:id="rId6"/>
    <p:sldId id="281" r:id="rId7"/>
    <p:sldId id="282" r:id="rId8"/>
    <p:sldId id="265" r:id="rId9"/>
    <p:sldId id="266" r:id="rId10"/>
    <p:sldId id="270" r:id="rId11"/>
    <p:sldId id="277" r:id="rId12"/>
    <p:sldId id="278" r:id="rId13"/>
    <p:sldId id="279" r:id="rId14"/>
    <p:sldId id="271" r:id="rId15"/>
    <p:sldId id="283" r:id="rId16"/>
    <p:sldId id="284" r:id="rId17"/>
    <p:sldId id="285" r:id="rId18"/>
    <p:sldId id="286" r:id="rId19"/>
    <p:sldId id="287" r:id="rId20"/>
    <p:sldId id="288" r:id="rId21"/>
    <p:sldId id="289" r:id="rId22"/>
    <p:sldId id="290" r:id="rId23"/>
    <p:sldId id="292" r:id="rId24"/>
    <p:sldId id="293" r:id="rId25"/>
    <p:sldId id="294" r:id="rId26"/>
    <p:sldId id="295" r:id="rId27"/>
    <p:sldId id="272" r:id="rId28"/>
    <p:sldId id="280" r:id="rId29"/>
    <p:sldId id="26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B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2C7AD0-DD9B-EBA1-8AAA-8D3F95C906D7}" v="6" dt="2024-05-19T17:33:08.7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3E7ABBE-DF5A-4DFB-98FA-4210266376B8}"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F5A538BC-6A83-4B00-A8A6-E72850ECF0BC}">
      <dgm:prSet/>
      <dgm:spPr/>
      <dgm:t>
        <a:bodyPr/>
        <a:lstStyle/>
        <a:p>
          <a:pPr>
            <a:lnSpc>
              <a:spcPct val="100000"/>
            </a:lnSpc>
          </a:pPr>
          <a:r>
            <a:rPr lang="en-US" b="1" dirty="0"/>
            <a:t>Blockchain-based data sharing:</a:t>
          </a:r>
          <a:r>
            <a:rPr lang="en-US" dirty="0"/>
            <a:t> </a:t>
          </a:r>
          <a:r>
            <a:rPr lang="en-US" dirty="0">
              <a:solidFill>
                <a:srgbClr val="000000"/>
              </a:solidFill>
              <a:latin typeface="Trebuchet MS" panose="020B0603020202020204"/>
            </a:rPr>
            <a:t> </a:t>
          </a:r>
          <a:r>
            <a:rPr lang="en-US" dirty="0">
              <a:solidFill>
                <a:schemeClr val="tx1"/>
              </a:solidFill>
              <a:latin typeface="Trebuchet MS" panose="020B0603020202020204"/>
            </a:rPr>
            <a:t>Ensures data ownership and enables trusted sharing for real big data creation.</a:t>
          </a:r>
        </a:p>
      </dgm:t>
    </dgm:pt>
    <dgm:pt modelId="{AA6922B9-33CB-4408-97BA-B4255D9E81E6}" type="parTrans" cxnId="{DA22F23B-6BC4-4482-9D2C-C61BA265F1F4}">
      <dgm:prSet/>
      <dgm:spPr/>
      <dgm:t>
        <a:bodyPr/>
        <a:lstStyle/>
        <a:p>
          <a:endParaRPr lang="en-US"/>
        </a:p>
      </dgm:t>
    </dgm:pt>
    <dgm:pt modelId="{30654900-7F8F-4397-ABC7-D1775B0601C2}" type="sibTrans" cxnId="{DA22F23B-6BC4-4482-9D2C-C61BA265F1F4}">
      <dgm:prSet/>
      <dgm:spPr/>
      <dgm:t>
        <a:bodyPr/>
        <a:lstStyle/>
        <a:p>
          <a:pPr>
            <a:lnSpc>
              <a:spcPct val="100000"/>
            </a:lnSpc>
          </a:pPr>
          <a:endParaRPr lang="en-US"/>
        </a:p>
      </dgm:t>
    </dgm:pt>
    <dgm:pt modelId="{2C14205C-4265-49B0-B77A-F0C6D406089F}">
      <dgm:prSet/>
      <dgm:spPr/>
      <dgm:t>
        <a:bodyPr/>
        <a:lstStyle/>
        <a:p>
          <a:pPr>
            <a:lnSpc>
              <a:spcPct val="100000"/>
            </a:lnSpc>
          </a:pPr>
          <a:r>
            <a:rPr lang="en-US" b="1" dirty="0"/>
            <a:t>AI-based secure computing platform:</a:t>
          </a:r>
          <a:r>
            <a:rPr lang="en-US" dirty="0"/>
            <a:t> Creates intelligent security rules for a more secure cyberspace.</a:t>
          </a:r>
        </a:p>
      </dgm:t>
    </dgm:pt>
    <dgm:pt modelId="{076E97C2-DF64-4692-8758-59B0F18EB831}" type="parTrans" cxnId="{7DDBD949-569D-47CF-ADDA-65BAB34DA1AA}">
      <dgm:prSet/>
      <dgm:spPr/>
      <dgm:t>
        <a:bodyPr/>
        <a:lstStyle/>
        <a:p>
          <a:endParaRPr lang="en-US"/>
        </a:p>
      </dgm:t>
    </dgm:pt>
    <dgm:pt modelId="{C4C49EA3-C91F-4CAA-91FA-4B5FFD19B58E}" type="sibTrans" cxnId="{7DDBD949-569D-47CF-ADDA-65BAB34DA1AA}">
      <dgm:prSet/>
      <dgm:spPr/>
      <dgm:t>
        <a:bodyPr/>
        <a:lstStyle/>
        <a:p>
          <a:pPr>
            <a:lnSpc>
              <a:spcPct val="100000"/>
            </a:lnSpc>
          </a:pPr>
          <a:endParaRPr lang="en-US"/>
        </a:p>
      </dgm:t>
    </dgm:pt>
    <dgm:pt modelId="{4742B57A-1864-4BB5-9959-9B004612915C}">
      <dgm:prSet/>
      <dgm:spPr/>
      <dgm:t>
        <a:bodyPr/>
        <a:lstStyle/>
        <a:p>
          <a:pPr>
            <a:lnSpc>
              <a:spcPct val="100000"/>
            </a:lnSpc>
          </a:pPr>
          <a:r>
            <a:rPr lang="en-US" b="1" dirty="0"/>
            <a:t>Trusted value-exchange mechanism:</a:t>
          </a:r>
          <a:r>
            <a:rPr lang="en-US" dirty="0"/>
            <a:t> Provides economic rewards for data sharing, incentivizing participation and promoting AI performance.</a:t>
          </a:r>
        </a:p>
      </dgm:t>
    </dgm:pt>
    <dgm:pt modelId="{3E2624AE-11B7-4A86-92AA-55E69A410679}" type="parTrans" cxnId="{0257A5EE-AA62-4897-BCAF-24A29284E861}">
      <dgm:prSet/>
      <dgm:spPr/>
      <dgm:t>
        <a:bodyPr/>
        <a:lstStyle/>
        <a:p>
          <a:endParaRPr lang="en-US"/>
        </a:p>
      </dgm:t>
    </dgm:pt>
    <dgm:pt modelId="{34F00F5B-849A-4BD0-B855-358DA9B3A3F5}" type="sibTrans" cxnId="{0257A5EE-AA62-4897-BCAF-24A29284E861}">
      <dgm:prSet/>
      <dgm:spPr/>
      <dgm:t>
        <a:bodyPr/>
        <a:lstStyle/>
        <a:p>
          <a:endParaRPr lang="en-US"/>
        </a:p>
      </dgm:t>
    </dgm:pt>
    <dgm:pt modelId="{0039ABE7-3515-40C8-B5A7-1C6D772210C1}" type="pres">
      <dgm:prSet presAssocID="{03E7ABBE-DF5A-4DFB-98FA-4210266376B8}" presName="root" presStyleCnt="0">
        <dgm:presLayoutVars>
          <dgm:dir/>
          <dgm:resizeHandles val="exact"/>
        </dgm:presLayoutVars>
      </dgm:prSet>
      <dgm:spPr/>
    </dgm:pt>
    <dgm:pt modelId="{2AC72AF8-E8AC-4BE5-A9DF-5E7466A6F7AE}" type="pres">
      <dgm:prSet presAssocID="{03E7ABBE-DF5A-4DFB-98FA-4210266376B8}" presName="container" presStyleCnt="0">
        <dgm:presLayoutVars>
          <dgm:dir/>
          <dgm:resizeHandles val="exact"/>
        </dgm:presLayoutVars>
      </dgm:prSet>
      <dgm:spPr/>
    </dgm:pt>
    <dgm:pt modelId="{2320ECAA-E51A-403A-A5A8-D8DB5C114E24}" type="pres">
      <dgm:prSet presAssocID="{F5A538BC-6A83-4B00-A8A6-E72850ECF0BC}" presName="compNode" presStyleCnt="0"/>
      <dgm:spPr/>
    </dgm:pt>
    <dgm:pt modelId="{5F065538-B31A-4E6B-B4EC-E0926CD70778}" type="pres">
      <dgm:prSet presAssocID="{F5A538BC-6A83-4B00-A8A6-E72850ECF0BC}" presName="iconBgRect" presStyleLbl="bgShp" presStyleIdx="0" presStyleCnt="3"/>
      <dgm:spPr/>
    </dgm:pt>
    <dgm:pt modelId="{F304715B-6CAE-456B-9DE6-F8B99A2E6676}" type="pres">
      <dgm:prSet presAssocID="{F5A538BC-6A83-4B00-A8A6-E72850ECF0B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itcoin"/>
        </a:ext>
      </dgm:extLst>
    </dgm:pt>
    <dgm:pt modelId="{7134B03F-E5F1-4EE3-BF6E-C4FC8A5A9355}" type="pres">
      <dgm:prSet presAssocID="{F5A538BC-6A83-4B00-A8A6-E72850ECF0BC}" presName="spaceRect" presStyleCnt="0"/>
      <dgm:spPr/>
    </dgm:pt>
    <dgm:pt modelId="{3786361F-ECD0-48C4-B277-8BE74B251E9C}" type="pres">
      <dgm:prSet presAssocID="{F5A538BC-6A83-4B00-A8A6-E72850ECF0BC}" presName="textRect" presStyleLbl="revTx" presStyleIdx="0" presStyleCnt="3">
        <dgm:presLayoutVars>
          <dgm:chMax val="1"/>
          <dgm:chPref val="1"/>
        </dgm:presLayoutVars>
      </dgm:prSet>
      <dgm:spPr/>
    </dgm:pt>
    <dgm:pt modelId="{5020C25F-7A96-45C2-817E-D32EF0B30D11}" type="pres">
      <dgm:prSet presAssocID="{30654900-7F8F-4397-ABC7-D1775B0601C2}" presName="sibTrans" presStyleLbl="sibTrans2D1" presStyleIdx="0" presStyleCnt="0"/>
      <dgm:spPr/>
    </dgm:pt>
    <dgm:pt modelId="{CB60EF29-AE1F-4787-93B5-459E7BBE7914}" type="pres">
      <dgm:prSet presAssocID="{2C14205C-4265-49B0-B77A-F0C6D406089F}" presName="compNode" presStyleCnt="0"/>
      <dgm:spPr/>
    </dgm:pt>
    <dgm:pt modelId="{DA69C6CE-4DE8-4D05-83BD-A0DEE0CC5C2B}" type="pres">
      <dgm:prSet presAssocID="{2C14205C-4265-49B0-B77A-F0C6D406089F}" presName="iconBgRect" presStyleLbl="bgShp" presStyleIdx="1" presStyleCnt="3"/>
      <dgm:spPr/>
    </dgm:pt>
    <dgm:pt modelId="{17CAEA24-579D-48E3-B599-8BF8512A57D9}" type="pres">
      <dgm:prSet presAssocID="{2C14205C-4265-49B0-B77A-F0C6D406089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ock"/>
        </a:ext>
      </dgm:extLst>
    </dgm:pt>
    <dgm:pt modelId="{B2E0B431-8BB0-452C-B1E4-2DB1377286AD}" type="pres">
      <dgm:prSet presAssocID="{2C14205C-4265-49B0-B77A-F0C6D406089F}" presName="spaceRect" presStyleCnt="0"/>
      <dgm:spPr/>
    </dgm:pt>
    <dgm:pt modelId="{2BBD217E-5E9F-465E-96BB-CB86A0478F08}" type="pres">
      <dgm:prSet presAssocID="{2C14205C-4265-49B0-B77A-F0C6D406089F}" presName="textRect" presStyleLbl="revTx" presStyleIdx="1" presStyleCnt="3">
        <dgm:presLayoutVars>
          <dgm:chMax val="1"/>
          <dgm:chPref val="1"/>
        </dgm:presLayoutVars>
      </dgm:prSet>
      <dgm:spPr/>
    </dgm:pt>
    <dgm:pt modelId="{4FA2A731-F005-43A6-BEAB-608AB0DAC11A}" type="pres">
      <dgm:prSet presAssocID="{C4C49EA3-C91F-4CAA-91FA-4B5FFD19B58E}" presName="sibTrans" presStyleLbl="sibTrans2D1" presStyleIdx="0" presStyleCnt="0"/>
      <dgm:spPr/>
    </dgm:pt>
    <dgm:pt modelId="{DDA2CF30-B43B-4B51-96C4-CE0BD6C2621A}" type="pres">
      <dgm:prSet presAssocID="{4742B57A-1864-4BB5-9959-9B004612915C}" presName="compNode" presStyleCnt="0"/>
      <dgm:spPr/>
    </dgm:pt>
    <dgm:pt modelId="{A876AAF4-6D59-4D1A-92AE-CA8606025DBD}" type="pres">
      <dgm:prSet presAssocID="{4742B57A-1864-4BB5-9959-9B004612915C}" presName="iconBgRect" presStyleLbl="bgShp" presStyleIdx="2" presStyleCnt="3"/>
      <dgm:spPr/>
    </dgm:pt>
    <dgm:pt modelId="{DCB6B6A6-CC7E-4F8F-8B1A-ED7D5C4A661E}" type="pres">
      <dgm:prSet presAssocID="{4742B57A-1864-4BB5-9959-9B004612915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ins"/>
        </a:ext>
      </dgm:extLst>
    </dgm:pt>
    <dgm:pt modelId="{E12EEFBD-C6F4-431E-9B86-EA2D27832B84}" type="pres">
      <dgm:prSet presAssocID="{4742B57A-1864-4BB5-9959-9B004612915C}" presName="spaceRect" presStyleCnt="0"/>
      <dgm:spPr/>
    </dgm:pt>
    <dgm:pt modelId="{56B399B6-4356-4C53-A57A-25CA15FB877E}" type="pres">
      <dgm:prSet presAssocID="{4742B57A-1864-4BB5-9959-9B004612915C}" presName="textRect" presStyleLbl="revTx" presStyleIdx="2" presStyleCnt="3">
        <dgm:presLayoutVars>
          <dgm:chMax val="1"/>
          <dgm:chPref val="1"/>
        </dgm:presLayoutVars>
      </dgm:prSet>
      <dgm:spPr/>
    </dgm:pt>
  </dgm:ptLst>
  <dgm:cxnLst>
    <dgm:cxn modelId="{36E61836-63BE-4CBC-86EB-1F2F0D482E69}" type="presOf" srcId="{30654900-7F8F-4397-ABC7-D1775B0601C2}" destId="{5020C25F-7A96-45C2-817E-D32EF0B30D11}" srcOrd="0" destOrd="0" presId="urn:microsoft.com/office/officeart/2018/2/layout/IconCircleList"/>
    <dgm:cxn modelId="{DA22F23B-6BC4-4482-9D2C-C61BA265F1F4}" srcId="{03E7ABBE-DF5A-4DFB-98FA-4210266376B8}" destId="{F5A538BC-6A83-4B00-A8A6-E72850ECF0BC}" srcOrd="0" destOrd="0" parTransId="{AA6922B9-33CB-4408-97BA-B4255D9E81E6}" sibTransId="{30654900-7F8F-4397-ABC7-D1775B0601C2}"/>
    <dgm:cxn modelId="{B4BFDB64-611A-4420-A96A-EE2060BB2549}" type="presOf" srcId="{2C14205C-4265-49B0-B77A-F0C6D406089F}" destId="{2BBD217E-5E9F-465E-96BB-CB86A0478F08}" srcOrd="0" destOrd="0" presId="urn:microsoft.com/office/officeart/2018/2/layout/IconCircleList"/>
    <dgm:cxn modelId="{7DDBD949-569D-47CF-ADDA-65BAB34DA1AA}" srcId="{03E7ABBE-DF5A-4DFB-98FA-4210266376B8}" destId="{2C14205C-4265-49B0-B77A-F0C6D406089F}" srcOrd="1" destOrd="0" parTransId="{076E97C2-DF64-4692-8758-59B0F18EB831}" sibTransId="{C4C49EA3-C91F-4CAA-91FA-4B5FFD19B58E}"/>
    <dgm:cxn modelId="{D9FE6252-06D1-410D-B689-1324AA44AC44}" type="presOf" srcId="{F5A538BC-6A83-4B00-A8A6-E72850ECF0BC}" destId="{3786361F-ECD0-48C4-B277-8BE74B251E9C}" srcOrd="0" destOrd="0" presId="urn:microsoft.com/office/officeart/2018/2/layout/IconCircleList"/>
    <dgm:cxn modelId="{7549BD88-F1A7-44CD-B6F0-F59D1C21A22F}" type="presOf" srcId="{C4C49EA3-C91F-4CAA-91FA-4B5FFD19B58E}" destId="{4FA2A731-F005-43A6-BEAB-608AB0DAC11A}" srcOrd="0" destOrd="0" presId="urn:microsoft.com/office/officeart/2018/2/layout/IconCircleList"/>
    <dgm:cxn modelId="{661DD0B9-0588-462F-900F-A11201F29DA4}" type="presOf" srcId="{03E7ABBE-DF5A-4DFB-98FA-4210266376B8}" destId="{0039ABE7-3515-40C8-B5A7-1C6D772210C1}" srcOrd="0" destOrd="0" presId="urn:microsoft.com/office/officeart/2018/2/layout/IconCircleList"/>
    <dgm:cxn modelId="{28BDB6D3-9A09-4B3B-8E51-A9795A6A37CF}" type="presOf" srcId="{4742B57A-1864-4BB5-9959-9B004612915C}" destId="{56B399B6-4356-4C53-A57A-25CA15FB877E}" srcOrd="0" destOrd="0" presId="urn:microsoft.com/office/officeart/2018/2/layout/IconCircleList"/>
    <dgm:cxn modelId="{0257A5EE-AA62-4897-BCAF-24A29284E861}" srcId="{03E7ABBE-DF5A-4DFB-98FA-4210266376B8}" destId="{4742B57A-1864-4BB5-9959-9B004612915C}" srcOrd="2" destOrd="0" parTransId="{3E2624AE-11B7-4A86-92AA-55E69A410679}" sibTransId="{34F00F5B-849A-4BD0-B855-358DA9B3A3F5}"/>
    <dgm:cxn modelId="{9EC64E7F-F71D-470C-99C2-5848653E8287}" type="presParOf" srcId="{0039ABE7-3515-40C8-B5A7-1C6D772210C1}" destId="{2AC72AF8-E8AC-4BE5-A9DF-5E7466A6F7AE}" srcOrd="0" destOrd="0" presId="urn:microsoft.com/office/officeart/2018/2/layout/IconCircleList"/>
    <dgm:cxn modelId="{E02AFE32-88EE-455C-980B-2C26C3557B51}" type="presParOf" srcId="{2AC72AF8-E8AC-4BE5-A9DF-5E7466A6F7AE}" destId="{2320ECAA-E51A-403A-A5A8-D8DB5C114E24}" srcOrd="0" destOrd="0" presId="urn:microsoft.com/office/officeart/2018/2/layout/IconCircleList"/>
    <dgm:cxn modelId="{0FF1FCF2-80E7-4EAD-9E3F-0396CC7F6253}" type="presParOf" srcId="{2320ECAA-E51A-403A-A5A8-D8DB5C114E24}" destId="{5F065538-B31A-4E6B-B4EC-E0926CD70778}" srcOrd="0" destOrd="0" presId="urn:microsoft.com/office/officeart/2018/2/layout/IconCircleList"/>
    <dgm:cxn modelId="{189C2416-86B4-4408-A55B-3992B679929C}" type="presParOf" srcId="{2320ECAA-E51A-403A-A5A8-D8DB5C114E24}" destId="{F304715B-6CAE-456B-9DE6-F8B99A2E6676}" srcOrd="1" destOrd="0" presId="urn:microsoft.com/office/officeart/2018/2/layout/IconCircleList"/>
    <dgm:cxn modelId="{7AB02A37-081A-4F97-86C2-089773374C34}" type="presParOf" srcId="{2320ECAA-E51A-403A-A5A8-D8DB5C114E24}" destId="{7134B03F-E5F1-4EE3-BF6E-C4FC8A5A9355}" srcOrd="2" destOrd="0" presId="urn:microsoft.com/office/officeart/2018/2/layout/IconCircleList"/>
    <dgm:cxn modelId="{094F3C12-52ED-4238-856E-EC5127ABA74B}" type="presParOf" srcId="{2320ECAA-E51A-403A-A5A8-D8DB5C114E24}" destId="{3786361F-ECD0-48C4-B277-8BE74B251E9C}" srcOrd="3" destOrd="0" presId="urn:microsoft.com/office/officeart/2018/2/layout/IconCircleList"/>
    <dgm:cxn modelId="{D35BA653-7C3F-449A-A116-16DD5522D2C8}" type="presParOf" srcId="{2AC72AF8-E8AC-4BE5-A9DF-5E7466A6F7AE}" destId="{5020C25F-7A96-45C2-817E-D32EF0B30D11}" srcOrd="1" destOrd="0" presId="urn:microsoft.com/office/officeart/2018/2/layout/IconCircleList"/>
    <dgm:cxn modelId="{FA082522-AD17-44F0-A274-F8CD75D8CAA2}" type="presParOf" srcId="{2AC72AF8-E8AC-4BE5-A9DF-5E7466A6F7AE}" destId="{CB60EF29-AE1F-4787-93B5-459E7BBE7914}" srcOrd="2" destOrd="0" presId="urn:microsoft.com/office/officeart/2018/2/layout/IconCircleList"/>
    <dgm:cxn modelId="{D7BFAF85-C4B7-43A4-BE23-487900653F2F}" type="presParOf" srcId="{CB60EF29-AE1F-4787-93B5-459E7BBE7914}" destId="{DA69C6CE-4DE8-4D05-83BD-A0DEE0CC5C2B}" srcOrd="0" destOrd="0" presId="urn:microsoft.com/office/officeart/2018/2/layout/IconCircleList"/>
    <dgm:cxn modelId="{4DC59153-1465-498B-9E0A-2C7A24D4089F}" type="presParOf" srcId="{CB60EF29-AE1F-4787-93B5-459E7BBE7914}" destId="{17CAEA24-579D-48E3-B599-8BF8512A57D9}" srcOrd="1" destOrd="0" presId="urn:microsoft.com/office/officeart/2018/2/layout/IconCircleList"/>
    <dgm:cxn modelId="{98EB0D62-982A-49D5-9982-A0CB2E900C51}" type="presParOf" srcId="{CB60EF29-AE1F-4787-93B5-459E7BBE7914}" destId="{B2E0B431-8BB0-452C-B1E4-2DB1377286AD}" srcOrd="2" destOrd="0" presId="urn:microsoft.com/office/officeart/2018/2/layout/IconCircleList"/>
    <dgm:cxn modelId="{F8CC9ADB-4082-4F96-95BE-68864399DC5B}" type="presParOf" srcId="{CB60EF29-AE1F-4787-93B5-459E7BBE7914}" destId="{2BBD217E-5E9F-465E-96BB-CB86A0478F08}" srcOrd="3" destOrd="0" presId="urn:microsoft.com/office/officeart/2018/2/layout/IconCircleList"/>
    <dgm:cxn modelId="{A4DFFC3A-AF3A-4A49-8D82-CF70BD4D8601}" type="presParOf" srcId="{2AC72AF8-E8AC-4BE5-A9DF-5E7466A6F7AE}" destId="{4FA2A731-F005-43A6-BEAB-608AB0DAC11A}" srcOrd="3" destOrd="0" presId="urn:microsoft.com/office/officeart/2018/2/layout/IconCircleList"/>
    <dgm:cxn modelId="{FB96B7D8-BF5E-4BEB-B4BE-0986E943012B}" type="presParOf" srcId="{2AC72AF8-E8AC-4BE5-A9DF-5E7466A6F7AE}" destId="{DDA2CF30-B43B-4B51-96C4-CE0BD6C2621A}" srcOrd="4" destOrd="0" presId="urn:microsoft.com/office/officeart/2018/2/layout/IconCircleList"/>
    <dgm:cxn modelId="{ED3DC110-7DC6-4F26-938E-7100E76EB591}" type="presParOf" srcId="{DDA2CF30-B43B-4B51-96C4-CE0BD6C2621A}" destId="{A876AAF4-6D59-4D1A-92AE-CA8606025DBD}" srcOrd="0" destOrd="0" presId="urn:microsoft.com/office/officeart/2018/2/layout/IconCircleList"/>
    <dgm:cxn modelId="{022105DB-6FF7-4F73-BF23-ADC7F5E44B87}" type="presParOf" srcId="{DDA2CF30-B43B-4B51-96C4-CE0BD6C2621A}" destId="{DCB6B6A6-CC7E-4F8F-8B1A-ED7D5C4A661E}" srcOrd="1" destOrd="0" presId="urn:microsoft.com/office/officeart/2018/2/layout/IconCircleList"/>
    <dgm:cxn modelId="{1A39673B-0CAD-4D48-B8E8-03FC8220FC0C}" type="presParOf" srcId="{DDA2CF30-B43B-4B51-96C4-CE0BD6C2621A}" destId="{E12EEFBD-C6F4-431E-9B86-EA2D27832B84}" srcOrd="2" destOrd="0" presId="urn:microsoft.com/office/officeart/2018/2/layout/IconCircleList"/>
    <dgm:cxn modelId="{AC4F135F-92B4-4E37-B5D3-B7E909444355}" type="presParOf" srcId="{DDA2CF30-B43B-4B51-96C4-CE0BD6C2621A}" destId="{56B399B6-4356-4C53-A57A-25CA15FB877E}"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E24571D-66DD-4E07-8BD9-E998EE00C944}"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7E0B8382-92D1-45D6-8D1D-2AE0C96B3A8B}">
      <dgm:prSet/>
      <dgm:spPr/>
      <dgm:t>
        <a:bodyPr/>
        <a:lstStyle/>
        <a:p>
          <a:pPr>
            <a:lnSpc>
              <a:spcPct val="100000"/>
            </a:lnSpc>
          </a:pPr>
          <a:r>
            <a:rPr lang="en-US" b="1"/>
            <a:t>Blockchain:</a:t>
          </a:r>
          <a:r>
            <a:rPr lang="en-US"/>
            <a:t> Manages data sharing with access control. Users define who can access their data, and only authorized users can view it.</a:t>
          </a:r>
        </a:p>
      </dgm:t>
    </dgm:pt>
    <dgm:pt modelId="{DED64A62-3DAF-464E-B7D5-9EB6DF9864D1}" type="parTrans" cxnId="{D7E3FBA8-7496-4CC0-AD33-E79435D43148}">
      <dgm:prSet/>
      <dgm:spPr/>
      <dgm:t>
        <a:bodyPr/>
        <a:lstStyle/>
        <a:p>
          <a:endParaRPr lang="en-US"/>
        </a:p>
      </dgm:t>
    </dgm:pt>
    <dgm:pt modelId="{E2761525-040B-4FE9-B410-59B06F3CD553}" type="sibTrans" cxnId="{D7E3FBA8-7496-4CC0-AD33-E79435D43148}">
      <dgm:prSet/>
      <dgm:spPr/>
      <dgm:t>
        <a:bodyPr/>
        <a:lstStyle/>
        <a:p>
          <a:endParaRPr lang="en-US"/>
        </a:p>
      </dgm:t>
    </dgm:pt>
    <dgm:pt modelId="{C314EBD2-A6DF-4480-998E-9113070EA21A}">
      <dgm:prSet/>
      <dgm:spPr/>
      <dgm:t>
        <a:bodyPr/>
        <a:lstStyle/>
        <a:p>
          <a:pPr>
            <a:lnSpc>
              <a:spcPct val="100000"/>
            </a:lnSpc>
          </a:pPr>
          <a:r>
            <a:rPr lang="en-US" b="1"/>
            <a:t>AI:</a:t>
          </a:r>
          <a:r>
            <a:rPr lang="en-US"/>
            <a:t> Functions as a secure computing platform. It checks if a user has permission to access data before allowing access.</a:t>
          </a:r>
        </a:p>
      </dgm:t>
    </dgm:pt>
    <dgm:pt modelId="{3EB11713-2F5B-402E-9BE6-DA41B2982ACC}" type="parTrans" cxnId="{A63DDEE0-2E61-4193-A78D-849280BC8AAE}">
      <dgm:prSet/>
      <dgm:spPr/>
      <dgm:t>
        <a:bodyPr/>
        <a:lstStyle/>
        <a:p>
          <a:endParaRPr lang="en-US"/>
        </a:p>
      </dgm:t>
    </dgm:pt>
    <dgm:pt modelId="{2DE8F8F4-EE13-43C4-B3B6-E2AA4DE3484A}" type="sibTrans" cxnId="{A63DDEE0-2E61-4193-A78D-849280BC8AAE}">
      <dgm:prSet/>
      <dgm:spPr/>
      <dgm:t>
        <a:bodyPr/>
        <a:lstStyle/>
        <a:p>
          <a:endParaRPr lang="en-US"/>
        </a:p>
      </dgm:t>
    </dgm:pt>
    <dgm:pt modelId="{B6EB1DA2-34D0-4637-A655-ABA71489B747}">
      <dgm:prSet/>
      <dgm:spPr/>
      <dgm:t>
        <a:bodyPr/>
        <a:lstStyle/>
        <a:p>
          <a:pPr>
            <a:lnSpc>
              <a:spcPct val="100000"/>
            </a:lnSpc>
          </a:pPr>
          <a:r>
            <a:rPr lang="en-US" b="1"/>
            <a:t>Rewards:</a:t>
          </a:r>
          <a:r>
            <a:rPr lang="en-US"/>
            <a:t> Users who share data earn rewards, incentivizing data sharing and improving AI performance.</a:t>
          </a:r>
        </a:p>
      </dgm:t>
    </dgm:pt>
    <dgm:pt modelId="{F15D0ED5-25E6-4D78-B60A-05BA7A75EB25}" type="parTrans" cxnId="{AF8C0834-1182-42EF-BA95-CE0BA980CD73}">
      <dgm:prSet/>
      <dgm:spPr/>
      <dgm:t>
        <a:bodyPr/>
        <a:lstStyle/>
        <a:p>
          <a:endParaRPr lang="en-US"/>
        </a:p>
      </dgm:t>
    </dgm:pt>
    <dgm:pt modelId="{BB05C7A5-EE3D-4636-9B5C-8554C78602D2}" type="sibTrans" cxnId="{AF8C0834-1182-42EF-BA95-CE0BA980CD73}">
      <dgm:prSet/>
      <dgm:spPr/>
      <dgm:t>
        <a:bodyPr/>
        <a:lstStyle/>
        <a:p>
          <a:endParaRPr lang="en-US"/>
        </a:p>
      </dgm:t>
    </dgm:pt>
    <dgm:pt modelId="{B2CFB8F2-56FB-4A85-AE95-92A6441BF1F9}" type="pres">
      <dgm:prSet presAssocID="{3E24571D-66DD-4E07-8BD9-E998EE00C944}" presName="hierChild1" presStyleCnt="0">
        <dgm:presLayoutVars>
          <dgm:chPref val="1"/>
          <dgm:dir/>
          <dgm:animOne val="branch"/>
          <dgm:animLvl val="lvl"/>
          <dgm:resizeHandles/>
        </dgm:presLayoutVars>
      </dgm:prSet>
      <dgm:spPr/>
    </dgm:pt>
    <dgm:pt modelId="{56E6F6E0-3DDD-4C4E-A6D2-3BA7B673FDE0}" type="pres">
      <dgm:prSet presAssocID="{7E0B8382-92D1-45D6-8D1D-2AE0C96B3A8B}" presName="hierRoot1" presStyleCnt="0"/>
      <dgm:spPr/>
    </dgm:pt>
    <dgm:pt modelId="{21EBEF4B-1E53-42A7-BD69-03B12D583E21}" type="pres">
      <dgm:prSet presAssocID="{7E0B8382-92D1-45D6-8D1D-2AE0C96B3A8B}" presName="composite" presStyleCnt="0"/>
      <dgm:spPr/>
    </dgm:pt>
    <dgm:pt modelId="{6F40DC9B-7EF6-4C53-8EEA-805D50CA6154}" type="pres">
      <dgm:prSet presAssocID="{7E0B8382-92D1-45D6-8D1D-2AE0C96B3A8B}" presName="background" presStyleLbl="node0" presStyleIdx="0" presStyleCnt="3"/>
      <dgm:spPr/>
    </dgm:pt>
    <dgm:pt modelId="{5B6D365D-4B72-4E6B-BB65-4832860A7CA7}" type="pres">
      <dgm:prSet presAssocID="{7E0B8382-92D1-45D6-8D1D-2AE0C96B3A8B}" presName="text" presStyleLbl="fgAcc0" presStyleIdx="0" presStyleCnt="3">
        <dgm:presLayoutVars>
          <dgm:chPref val="3"/>
        </dgm:presLayoutVars>
      </dgm:prSet>
      <dgm:spPr/>
    </dgm:pt>
    <dgm:pt modelId="{F0E8E2D2-E9F3-46CF-A1BC-F4174C2B5455}" type="pres">
      <dgm:prSet presAssocID="{7E0B8382-92D1-45D6-8D1D-2AE0C96B3A8B}" presName="hierChild2" presStyleCnt="0"/>
      <dgm:spPr/>
    </dgm:pt>
    <dgm:pt modelId="{3629AF73-A896-4CB8-80E7-A0DF1D79B9A4}" type="pres">
      <dgm:prSet presAssocID="{C314EBD2-A6DF-4480-998E-9113070EA21A}" presName="hierRoot1" presStyleCnt="0"/>
      <dgm:spPr/>
    </dgm:pt>
    <dgm:pt modelId="{FD03135B-802C-4FBD-9DC3-57FA3D1F02EC}" type="pres">
      <dgm:prSet presAssocID="{C314EBD2-A6DF-4480-998E-9113070EA21A}" presName="composite" presStyleCnt="0"/>
      <dgm:spPr/>
    </dgm:pt>
    <dgm:pt modelId="{FDAF9781-338D-493A-B0CE-A1A880F2E808}" type="pres">
      <dgm:prSet presAssocID="{C314EBD2-A6DF-4480-998E-9113070EA21A}" presName="background" presStyleLbl="node0" presStyleIdx="1" presStyleCnt="3"/>
      <dgm:spPr/>
    </dgm:pt>
    <dgm:pt modelId="{F1C782ED-401E-4043-BC89-68571AE49016}" type="pres">
      <dgm:prSet presAssocID="{C314EBD2-A6DF-4480-998E-9113070EA21A}" presName="text" presStyleLbl="fgAcc0" presStyleIdx="1" presStyleCnt="3">
        <dgm:presLayoutVars>
          <dgm:chPref val="3"/>
        </dgm:presLayoutVars>
      </dgm:prSet>
      <dgm:spPr/>
    </dgm:pt>
    <dgm:pt modelId="{E417F5FB-560C-4C88-852E-552DC79856B7}" type="pres">
      <dgm:prSet presAssocID="{C314EBD2-A6DF-4480-998E-9113070EA21A}" presName="hierChild2" presStyleCnt="0"/>
      <dgm:spPr/>
    </dgm:pt>
    <dgm:pt modelId="{69328744-C49E-4224-9E05-889DFD9E510D}" type="pres">
      <dgm:prSet presAssocID="{B6EB1DA2-34D0-4637-A655-ABA71489B747}" presName="hierRoot1" presStyleCnt="0"/>
      <dgm:spPr/>
    </dgm:pt>
    <dgm:pt modelId="{6F4FA014-6D82-42C6-8581-2DFF7A50DFBA}" type="pres">
      <dgm:prSet presAssocID="{B6EB1DA2-34D0-4637-A655-ABA71489B747}" presName="composite" presStyleCnt="0"/>
      <dgm:spPr/>
    </dgm:pt>
    <dgm:pt modelId="{5775CCD0-EC1B-4064-89DC-1C2CCD773B86}" type="pres">
      <dgm:prSet presAssocID="{B6EB1DA2-34D0-4637-A655-ABA71489B747}" presName="background" presStyleLbl="node0" presStyleIdx="2" presStyleCnt="3"/>
      <dgm:spPr/>
    </dgm:pt>
    <dgm:pt modelId="{C05D4C18-1AAD-4645-9A31-12A56A48F711}" type="pres">
      <dgm:prSet presAssocID="{B6EB1DA2-34D0-4637-A655-ABA71489B747}" presName="text" presStyleLbl="fgAcc0" presStyleIdx="2" presStyleCnt="3">
        <dgm:presLayoutVars>
          <dgm:chPref val="3"/>
        </dgm:presLayoutVars>
      </dgm:prSet>
      <dgm:spPr/>
    </dgm:pt>
    <dgm:pt modelId="{C0468409-047E-442E-9466-572137D44348}" type="pres">
      <dgm:prSet presAssocID="{B6EB1DA2-34D0-4637-A655-ABA71489B747}" presName="hierChild2" presStyleCnt="0"/>
      <dgm:spPr/>
    </dgm:pt>
  </dgm:ptLst>
  <dgm:cxnLst>
    <dgm:cxn modelId="{A1438F08-3AA7-46C9-9DD5-9A29B6197C16}" type="presOf" srcId="{C314EBD2-A6DF-4480-998E-9113070EA21A}" destId="{F1C782ED-401E-4043-BC89-68571AE49016}" srcOrd="0" destOrd="0" presId="urn:microsoft.com/office/officeart/2005/8/layout/hierarchy1"/>
    <dgm:cxn modelId="{AF8C0834-1182-42EF-BA95-CE0BA980CD73}" srcId="{3E24571D-66DD-4E07-8BD9-E998EE00C944}" destId="{B6EB1DA2-34D0-4637-A655-ABA71489B747}" srcOrd="2" destOrd="0" parTransId="{F15D0ED5-25E6-4D78-B60A-05BA7A75EB25}" sibTransId="{BB05C7A5-EE3D-4636-9B5C-8554C78602D2}"/>
    <dgm:cxn modelId="{A670423C-6335-4696-AFDC-DF9E146A1C32}" type="presOf" srcId="{7E0B8382-92D1-45D6-8D1D-2AE0C96B3A8B}" destId="{5B6D365D-4B72-4E6B-BB65-4832860A7CA7}" srcOrd="0" destOrd="0" presId="urn:microsoft.com/office/officeart/2005/8/layout/hierarchy1"/>
    <dgm:cxn modelId="{D7E3FBA8-7496-4CC0-AD33-E79435D43148}" srcId="{3E24571D-66DD-4E07-8BD9-E998EE00C944}" destId="{7E0B8382-92D1-45D6-8D1D-2AE0C96B3A8B}" srcOrd="0" destOrd="0" parTransId="{DED64A62-3DAF-464E-B7D5-9EB6DF9864D1}" sibTransId="{E2761525-040B-4FE9-B410-59B06F3CD553}"/>
    <dgm:cxn modelId="{BAB3B8C2-1104-4981-B90B-D84AABCAC8F6}" type="presOf" srcId="{B6EB1DA2-34D0-4637-A655-ABA71489B747}" destId="{C05D4C18-1AAD-4645-9A31-12A56A48F711}" srcOrd="0" destOrd="0" presId="urn:microsoft.com/office/officeart/2005/8/layout/hierarchy1"/>
    <dgm:cxn modelId="{A63DDEE0-2E61-4193-A78D-849280BC8AAE}" srcId="{3E24571D-66DD-4E07-8BD9-E998EE00C944}" destId="{C314EBD2-A6DF-4480-998E-9113070EA21A}" srcOrd="1" destOrd="0" parTransId="{3EB11713-2F5B-402E-9BE6-DA41B2982ACC}" sibTransId="{2DE8F8F4-EE13-43C4-B3B6-E2AA4DE3484A}"/>
    <dgm:cxn modelId="{18FE43E5-50B7-4186-B525-457B4889A5EC}" type="presOf" srcId="{3E24571D-66DD-4E07-8BD9-E998EE00C944}" destId="{B2CFB8F2-56FB-4A85-AE95-92A6441BF1F9}" srcOrd="0" destOrd="0" presId="urn:microsoft.com/office/officeart/2005/8/layout/hierarchy1"/>
    <dgm:cxn modelId="{2F528837-E3D7-4912-9DC1-A3449F22F82F}" type="presParOf" srcId="{B2CFB8F2-56FB-4A85-AE95-92A6441BF1F9}" destId="{56E6F6E0-3DDD-4C4E-A6D2-3BA7B673FDE0}" srcOrd="0" destOrd="0" presId="urn:microsoft.com/office/officeart/2005/8/layout/hierarchy1"/>
    <dgm:cxn modelId="{B3E3CA3B-12BA-42AA-B358-7BEA25906350}" type="presParOf" srcId="{56E6F6E0-3DDD-4C4E-A6D2-3BA7B673FDE0}" destId="{21EBEF4B-1E53-42A7-BD69-03B12D583E21}" srcOrd="0" destOrd="0" presId="urn:microsoft.com/office/officeart/2005/8/layout/hierarchy1"/>
    <dgm:cxn modelId="{F49040C9-994F-4F3A-9EFC-F7632365EA67}" type="presParOf" srcId="{21EBEF4B-1E53-42A7-BD69-03B12D583E21}" destId="{6F40DC9B-7EF6-4C53-8EEA-805D50CA6154}" srcOrd="0" destOrd="0" presId="urn:microsoft.com/office/officeart/2005/8/layout/hierarchy1"/>
    <dgm:cxn modelId="{D19E599A-FAC6-48FD-BB9F-AA365D4CBA82}" type="presParOf" srcId="{21EBEF4B-1E53-42A7-BD69-03B12D583E21}" destId="{5B6D365D-4B72-4E6B-BB65-4832860A7CA7}" srcOrd="1" destOrd="0" presId="urn:microsoft.com/office/officeart/2005/8/layout/hierarchy1"/>
    <dgm:cxn modelId="{F189F023-7E27-4D88-A5A9-B39005A4AA7E}" type="presParOf" srcId="{56E6F6E0-3DDD-4C4E-A6D2-3BA7B673FDE0}" destId="{F0E8E2D2-E9F3-46CF-A1BC-F4174C2B5455}" srcOrd="1" destOrd="0" presId="urn:microsoft.com/office/officeart/2005/8/layout/hierarchy1"/>
    <dgm:cxn modelId="{08B1CC0F-DBBF-49AA-9409-1BD9F102E9CA}" type="presParOf" srcId="{B2CFB8F2-56FB-4A85-AE95-92A6441BF1F9}" destId="{3629AF73-A896-4CB8-80E7-A0DF1D79B9A4}" srcOrd="1" destOrd="0" presId="urn:microsoft.com/office/officeart/2005/8/layout/hierarchy1"/>
    <dgm:cxn modelId="{D11CE8F2-949C-4DB6-8F61-F836F19440BC}" type="presParOf" srcId="{3629AF73-A896-4CB8-80E7-A0DF1D79B9A4}" destId="{FD03135B-802C-4FBD-9DC3-57FA3D1F02EC}" srcOrd="0" destOrd="0" presId="urn:microsoft.com/office/officeart/2005/8/layout/hierarchy1"/>
    <dgm:cxn modelId="{34456C28-A7F2-427B-85E9-5EED49353CB3}" type="presParOf" srcId="{FD03135B-802C-4FBD-9DC3-57FA3D1F02EC}" destId="{FDAF9781-338D-493A-B0CE-A1A880F2E808}" srcOrd="0" destOrd="0" presId="urn:microsoft.com/office/officeart/2005/8/layout/hierarchy1"/>
    <dgm:cxn modelId="{F7E07FCD-5477-46F1-A1C9-153A459E87F5}" type="presParOf" srcId="{FD03135B-802C-4FBD-9DC3-57FA3D1F02EC}" destId="{F1C782ED-401E-4043-BC89-68571AE49016}" srcOrd="1" destOrd="0" presId="urn:microsoft.com/office/officeart/2005/8/layout/hierarchy1"/>
    <dgm:cxn modelId="{DBFD8C23-F2D2-4DD1-8E53-0668D0A20DC3}" type="presParOf" srcId="{3629AF73-A896-4CB8-80E7-A0DF1D79B9A4}" destId="{E417F5FB-560C-4C88-852E-552DC79856B7}" srcOrd="1" destOrd="0" presId="urn:microsoft.com/office/officeart/2005/8/layout/hierarchy1"/>
    <dgm:cxn modelId="{761F7A16-E006-4B15-9C9D-2B4C3FAA2280}" type="presParOf" srcId="{B2CFB8F2-56FB-4A85-AE95-92A6441BF1F9}" destId="{69328744-C49E-4224-9E05-889DFD9E510D}" srcOrd="2" destOrd="0" presId="urn:microsoft.com/office/officeart/2005/8/layout/hierarchy1"/>
    <dgm:cxn modelId="{537ED406-2A64-4DBE-8181-EF06CEB22764}" type="presParOf" srcId="{69328744-C49E-4224-9E05-889DFD9E510D}" destId="{6F4FA014-6D82-42C6-8581-2DFF7A50DFBA}" srcOrd="0" destOrd="0" presId="urn:microsoft.com/office/officeart/2005/8/layout/hierarchy1"/>
    <dgm:cxn modelId="{37005C95-BA1B-4DC7-BE14-BE8756160B0E}" type="presParOf" srcId="{6F4FA014-6D82-42C6-8581-2DFF7A50DFBA}" destId="{5775CCD0-EC1B-4064-89DC-1C2CCD773B86}" srcOrd="0" destOrd="0" presId="urn:microsoft.com/office/officeart/2005/8/layout/hierarchy1"/>
    <dgm:cxn modelId="{3066D3DF-10EF-44BB-B4FC-D980460FD942}" type="presParOf" srcId="{6F4FA014-6D82-42C6-8581-2DFF7A50DFBA}" destId="{C05D4C18-1AAD-4645-9A31-12A56A48F711}" srcOrd="1" destOrd="0" presId="urn:microsoft.com/office/officeart/2005/8/layout/hierarchy1"/>
    <dgm:cxn modelId="{D48A4B1B-61FD-4173-B12E-E1A6754F76C4}" type="presParOf" srcId="{69328744-C49E-4224-9E05-889DFD9E510D}" destId="{C0468409-047E-442E-9466-572137D4434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D20AF0-BCE0-4E45-A96C-485C7C2BAD59}" type="doc">
      <dgm:prSet loTypeId="urn:microsoft.com/office/officeart/2018/2/layout/IconLabelList" loCatId="icon" qsTypeId="urn:microsoft.com/office/officeart/2005/8/quickstyle/simple1" qsCatId="simple" csTypeId="urn:microsoft.com/office/officeart/2005/8/colors/accent0_2" csCatId="mainScheme" phldr="1"/>
      <dgm:spPr/>
      <dgm:t>
        <a:bodyPr/>
        <a:lstStyle/>
        <a:p>
          <a:endParaRPr lang="en-US"/>
        </a:p>
      </dgm:t>
    </dgm:pt>
    <dgm:pt modelId="{072C8238-5B8C-4E7A-8BE3-4980BE3B3C7E}">
      <dgm:prSet/>
      <dgm:spPr/>
      <dgm:t>
        <a:bodyPr/>
        <a:lstStyle/>
        <a:p>
          <a:pPr>
            <a:lnSpc>
              <a:spcPct val="100000"/>
            </a:lnSpc>
          </a:pPr>
          <a:r>
            <a:rPr lang="en-US" b="1" dirty="0">
              <a:solidFill>
                <a:schemeClr val="bg1"/>
              </a:solidFill>
            </a:rPr>
            <a:t>Mining Process:</a:t>
          </a:r>
          <a:r>
            <a:rPr lang="en-US" dirty="0">
              <a:solidFill>
                <a:schemeClr val="bg1"/>
              </a:solidFill>
            </a:rPr>
            <a:t> </a:t>
          </a:r>
          <a:r>
            <a:rPr lang="en-US" dirty="0" err="1">
              <a:solidFill>
                <a:schemeClr val="bg1"/>
              </a:solidFill>
            </a:rPr>
            <a:t>PoW</a:t>
          </a:r>
          <a:r>
            <a:rPr lang="en-US" dirty="0">
              <a:solidFill>
                <a:schemeClr val="bg1"/>
              </a:solidFill>
            </a:rPr>
            <a:t> involves complex puzzles solved by miners using computing power. This creates a secure and verifiable record of transactions on the Blockchain.</a:t>
          </a:r>
        </a:p>
      </dgm:t>
    </dgm:pt>
    <dgm:pt modelId="{40693302-7A34-4459-A1A3-CDC493BAAF68}" type="parTrans" cxnId="{360D11E1-0A5D-44B7-81A9-E39DDD39F06F}">
      <dgm:prSet/>
      <dgm:spPr/>
      <dgm:t>
        <a:bodyPr/>
        <a:lstStyle/>
        <a:p>
          <a:endParaRPr lang="en-US"/>
        </a:p>
      </dgm:t>
    </dgm:pt>
    <dgm:pt modelId="{6C1D9C65-48A6-47E6-81A1-5C20A14824B8}" type="sibTrans" cxnId="{360D11E1-0A5D-44B7-81A9-E39DDD39F06F}">
      <dgm:prSet/>
      <dgm:spPr/>
      <dgm:t>
        <a:bodyPr/>
        <a:lstStyle/>
        <a:p>
          <a:endParaRPr lang="en-US"/>
        </a:p>
      </dgm:t>
    </dgm:pt>
    <dgm:pt modelId="{A273318C-C66C-474B-BE37-C1F642D6F7D6}">
      <dgm:prSet/>
      <dgm:spPr/>
      <dgm:t>
        <a:bodyPr/>
        <a:lstStyle/>
        <a:p>
          <a:pPr>
            <a:lnSpc>
              <a:spcPct val="100000"/>
            </a:lnSpc>
          </a:pPr>
          <a:r>
            <a:rPr lang="en-US" b="1" dirty="0">
              <a:solidFill>
                <a:schemeClr val="bg1"/>
              </a:solidFill>
            </a:rPr>
            <a:t>Tamper-proof Ledger:</a:t>
          </a:r>
          <a:r>
            <a:rPr lang="en-US" dirty="0">
              <a:solidFill>
                <a:schemeClr val="bg1"/>
              </a:solidFill>
            </a:rPr>
            <a:t> The difficulty of solving these puzzles makes it nearly impossible to alter past transactions on the Blockchain, protecting data integrity.</a:t>
          </a:r>
        </a:p>
      </dgm:t>
    </dgm:pt>
    <dgm:pt modelId="{8CB7AD5A-A41A-417E-9508-4E166D178C09}" type="parTrans" cxnId="{06C5C035-7DED-4E99-A0DA-DAABCB49028B}">
      <dgm:prSet/>
      <dgm:spPr/>
      <dgm:t>
        <a:bodyPr/>
        <a:lstStyle/>
        <a:p>
          <a:endParaRPr lang="en-US"/>
        </a:p>
      </dgm:t>
    </dgm:pt>
    <dgm:pt modelId="{7D142347-DA48-424C-BE4C-04B1BDB82B99}" type="sibTrans" cxnId="{06C5C035-7DED-4E99-A0DA-DAABCB49028B}">
      <dgm:prSet/>
      <dgm:spPr/>
      <dgm:t>
        <a:bodyPr/>
        <a:lstStyle/>
        <a:p>
          <a:endParaRPr lang="en-US"/>
        </a:p>
      </dgm:t>
    </dgm:pt>
    <dgm:pt modelId="{73C7B66B-FFFB-472B-8D88-5FBCDFC6D777}">
      <dgm:prSet/>
      <dgm:spPr/>
      <dgm:t>
        <a:bodyPr/>
        <a:lstStyle/>
        <a:p>
          <a:pPr>
            <a:lnSpc>
              <a:spcPct val="100000"/>
            </a:lnSpc>
          </a:pPr>
          <a:r>
            <a:rPr lang="en-US" b="1" dirty="0">
              <a:solidFill>
                <a:schemeClr val="bg1"/>
              </a:solidFill>
            </a:rPr>
            <a:t>Network Decentralization:</a:t>
          </a:r>
          <a:r>
            <a:rPr lang="en-US" dirty="0">
              <a:solidFill>
                <a:schemeClr val="bg1"/>
              </a:solidFill>
            </a:rPr>
            <a:t> Anyone can participate in mining, which distributes the validation process and prevents a single entity from controlling the network. This strengthens overall security.</a:t>
          </a:r>
        </a:p>
      </dgm:t>
    </dgm:pt>
    <dgm:pt modelId="{89E40FBD-F0CE-4C2D-9351-536FB7BD94A5}" type="parTrans" cxnId="{2D0DE0C0-C722-4185-9568-13B67748D026}">
      <dgm:prSet/>
      <dgm:spPr/>
      <dgm:t>
        <a:bodyPr/>
        <a:lstStyle/>
        <a:p>
          <a:endParaRPr lang="en-US"/>
        </a:p>
      </dgm:t>
    </dgm:pt>
    <dgm:pt modelId="{D1B865C2-9065-4D6E-8494-9802DD5A31C6}" type="sibTrans" cxnId="{2D0DE0C0-C722-4185-9568-13B67748D026}">
      <dgm:prSet/>
      <dgm:spPr/>
      <dgm:t>
        <a:bodyPr/>
        <a:lstStyle/>
        <a:p>
          <a:endParaRPr lang="en-US"/>
        </a:p>
      </dgm:t>
    </dgm:pt>
    <dgm:pt modelId="{A5A119DB-0FF7-44C5-B43F-2B4AF8F639B4}" type="pres">
      <dgm:prSet presAssocID="{F3D20AF0-BCE0-4E45-A96C-485C7C2BAD59}" presName="root" presStyleCnt="0">
        <dgm:presLayoutVars>
          <dgm:dir/>
          <dgm:resizeHandles val="exact"/>
        </dgm:presLayoutVars>
      </dgm:prSet>
      <dgm:spPr/>
    </dgm:pt>
    <dgm:pt modelId="{A462B013-2E9E-4B74-BEE9-F3C7678999B4}" type="pres">
      <dgm:prSet presAssocID="{072C8238-5B8C-4E7A-8BE3-4980BE3B3C7E}" presName="compNode" presStyleCnt="0"/>
      <dgm:spPr/>
    </dgm:pt>
    <dgm:pt modelId="{A7CD8BBD-0545-432C-B557-9D7D623B17F6}" type="pres">
      <dgm:prSet presAssocID="{072C8238-5B8C-4E7A-8BE3-4980BE3B3C7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ining Tools"/>
        </a:ext>
      </dgm:extLst>
    </dgm:pt>
    <dgm:pt modelId="{FDE96B84-6D21-48B8-9878-3AA90853C8B8}" type="pres">
      <dgm:prSet presAssocID="{072C8238-5B8C-4E7A-8BE3-4980BE3B3C7E}" presName="spaceRect" presStyleCnt="0"/>
      <dgm:spPr/>
    </dgm:pt>
    <dgm:pt modelId="{720D98E5-3B7F-48EC-A054-2681E1CD2E26}" type="pres">
      <dgm:prSet presAssocID="{072C8238-5B8C-4E7A-8BE3-4980BE3B3C7E}" presName="textRect" presStyleLbl="revTx" presStyleIdx="0" presStyleCnt="3">
        <dgm:presLayoutVars>
          <dgm:chMax val="1"/>
          <dgm:chPref val="1"/>
        </dgm:presLayoutVars>
      </dgm:prSet>
      <dgm:spPr/>
    </dgm:pt>
    <dgm:pt modelId="{8107309B-8CBF-4CE1-9A89-FD5F82DDCAA8}" type="pres">
      <dgm:prSet presAssocID="{6C1D9C65-48A6-47E6-81A1-5C20A14824B8}" presName="sibTrans" presStyleCnt="0"/>
      <dgm:spPr/>
    </dgm:pt>
    <dgm:pt modelId="{4A98284C-32A9-4530-97BF-B9F09E86C5A8}" type="pres">
      <dgm:prSet presAssocID="{A273318C-C66C-474B-BE37-C1F642D6F7D6}" presName="compNode" presStyleCnt="0"/>
      <dgm:spPr/>
    </dgm:pt>
    <dgm:pt modelId="{44CD2EEF-3BCF-446E-B038-387FDD5F0571}" type="pres">
      <dgm:prSet presAssocID="{A273318C-C66C-474B-BE37-C1F642D6F7D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nlock"/>
        </a:ext>
      </dgm:extLst>
    </dgm:pt>
    <dgm:pt modelId="{6E00444C-7F0C-41B8-8A2B-9218C8A889CF}" type="pres">
      <dgm:prSet presAssocID="{A273318C-C66C-474B-BE37-C1F642D6F7D6}" presName="spaceRect" presStyleCnt="0"/>
      <dgm:spPr/>
    </dgm:pt>
    <dgm:pt modelId="{1D0F8A58-D065-4A11-A79C-1751A41D2AD9}" type="pres">
      <dgm:prSet presAssocID="{A273318C-C66C-474B-BE37-C1F642D6F7D6}" presName="textRect" presStyleLbl="revTx" presStyleIdx="1" presStyleCnt="3">
        <dgm:presLayoutVars>
          <dgm:chMax val="1"/>
          <dgm:chPref val="1"/>
        </dgm:presLayoutVars>
      </dgm:prSet>
      <dgm:spPr/>
    </dgm:pt>
    <dgm:pt modelId="{780D51F2-2061-4CA3-91AE-1FDA0FA46FAC}" type="pres">
      <dgm:prSet presAssocID="{7D142347-DA48-424C-BE4C-04B1BDB82B99}" presName="sibTrans" presStyleCnt="0"/>
      <dgm:spPr/>
    </dgm:pt>
    <dgm:pt modelId="{F9B3981B-2903-4F04-91DD-DD707EB33BAB}" type="pres">
      <dgm:prSet presAssocID="{73C7B66B-FFFB-472B-8D88-5FBCDFC6D777}" presName="compNode" presStyleCnt="0"/>
      <dgm:spPr/>
    </dgm:pt>
    <dgm:pt modelId="{DCAEA518-BCC8-4709-A39A-713CE43D00CD}" type="pres">
      <dgm:prSet presAssocID="{73C7B66B-FFFB-472B-8D88-5FBCDFC6D77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ycle with People"/>
        </a:ext>
      </dgm:extLst>
    </dgm:pt>
    <dgm:pt modelId="{15DFD624-269C-4B95-B9F5-AFB60A8B93C0}" type="pres">
      <dgm:prSet presAssocID="{73C7B66B-FFFB-472B-8D88-5FBCDFC6D777}" presName="spaceRect" presStyleCnt="0"/>
      <dgm:spPr/>
    </dgm:pt>
    <dgm:pt modelId="{0CE5AF8A-A52F-431F-87B0-ABB6B4BBAE79}" type="pres">
      <dgm:prSet presAssocID="{73C7B66B-FFFB-472B-8D88-5FBCDFC6D777}" presName="textRect" presStyleLbl="revTx" presStyleIdx="2" presStyleCnt="3">
        <dgm:presLayoutVars>
          <dgm:chMax val="1"/>
          <dgm:chPref val="1"/>
        </dgm:presLayoutVars>
      </dgm:prSet>
      <dgm:spPr/>
    </dgm:pt>
  </dgm:ptLst>
  <dgm:cxnLst>
    <dgm:cxn modelId="{06C5C035-7DED-4E99-A0DA-DAABCB49028B}" srcId="{F3D20AF0-BCE0-4E45-A96C-485C7C2BAD59}" destId="{A273318C-C66C-474B-BE37-C1F642D6F7D6}" srcOrd="1" destOrd="0" parTransId="{8CB7AD5A-A41A-417E-9508-4E166D178C09}" sibTransId="{7D142347-DA48-424C-BE4C-04B1BDB82B99}"/>
    <dgm:cxn modelId="{B6E0513F-B76B-4013-A24A-9C11917C5C6D}" type="presOf" srcId="{F3D20AF0-BCE0-4E45-A96C-485C7C2BAD59}" destId="{A5A119DB-0FF7-44C5-B43F-2B4AF8F639B4}" srcOrd="0" destOrd="0" presId="urn:microsoft.com/office/officeart/2018/2/layout/IconLabelList"/>
    <dgm:cxn modelId="{9E8A6C62-661C-491B-8F86-84E2A64098D4}" type="presOf" srcId="{A273318C-C66C-474B-BE37-C1F642D6F7D6}" destId="{1D0F8A58-D065-4A11-A79C-1751A41D2AD9}" srcOrd="0" destOrd="0" presId="urn:microsoft.com/office/officeart/2018/2/layout/IconLabelList"/>
    <dgm:cxn modelId="{2D0DE0C0-C722-4185-9568-13B67748D026}" srcId="{F3D20AF0-BCE0-4E45-A96C-485C7C2BAD59}" destId="{73C7B66B-FFFB-472B-8D88-5FBCDFC6D777}" srcOrd="2" destOrd="0" parTransId="{89E40FBD-F0CE-4C2D-9351-536FB7BD94A5}" sibTransId="{D1B865C2-9065-4D6E-8494-9802DD5A31C6}"/>
    <dgm:cxn modelId="{A41971CE-A811-4D2C-B590-FDBECCE18E63}" type="presOf" srcId="{072C8238-5B8C-4E7A-8BE3-4980BE3B3C7E}" destId="{720D98E5-3B7F-48EC-A054-2681E1CD2E26}" srcOrd="0" destOrd="0" presId="urn:microsoft.com/office/officeart/2018/2/layout/IconLabelList"/>
    <dgm:cxn modelId="{360D11E1-0A5D-44B7-81A9-E39DDD39F06F}" srcId="{F3D20AF0-BCE0-4E45-A96C-485C7C2BAD59}" destId="{072C8238-5B8C-4E7A-8BE3-4980BE3B3C7E}" srcOrd="0" destOrd="0" parTransId="{40693302-7A34-4459-A1A3-CDC493BAAF68}" sibTransId="{6C1D9C65-48A6-47E6-81A1-5C20A14824B8}"/>
    <dgm:cxn modelId="{3F1705F8-2D5B-4927-B227-281CEFFBFD48}" type="presOf" srcId="{73C7B66B-FFFB-472B-8D88-5FBCDFC6D777}" destId="{0CE5AF8A-A52F-431F-87B0-ABB6B4BBAE79}" srcOrd="0" destOrd="0" presId="urn:microsoft.com/office/officeart/2018/2/layout/IconLabelList"/>
    <dgm:cxn modelId="{84C0F95C-DEBC-4DE7-AD88-7673BBAB39BA}" type="presParOf" srcId="{A5A119DB-0FF7-44C5-B43F-2B4AF8F639B4}" destId="{A462B013-2E9E-4B74-BEE9-F3C7678999B4}" srcOrd="0" destOrd="0" presId="urn:microsoft.com/office/officeart/2018/2/layout/IconLabelList"/>
    <dgm:cxn modelId="{2C07B62C-226C-4F24-A7AE-7AB413B953C9}" type="presParOf" srcId="{A462B013-2E9E-4B74-BEE9-F3C7678999B4}" destId="{A7CD8BBD-0545-432C-B557-9D7D623B17F6}" srcOrd="0" destOrd="0" presId="urn:microsoft.com/office/officeart/2018/2/layout/IconLabelList"/>
    <dgm:cxn modelId="{7009CA0F-48E2-4117-BD43-0CA14D1BECD5}" type="presParOf" srcId="{A462B013-2E9E-4B74-BEE9-F3C7678999B4}" destId="{FDE96B84-6D21-48B8-9878-3AA90853C8B8}" srcOrd="1" destOrd="0" presId="urn:microsoft.com/office/officeart/2018/2/layout/IconLabelList"/>
    <dgm:cxn modelId="{6BB979A4-0530-4B01-A0AD-39E64F2CE3FC}" type="presParOf" srcId="{A462B013-2E9E-4B74-BEE9-F3C7678999B4}" destId="{720D98E5-3B7F-48EC-A054-2681E1CD2E26}" srcOrd="2" destOrd="0" presId="urn:microsoft.com/office/officeart/2018/2/layout/IconLabelList"/>
    <dgm:cxn modelId="{56F1F82A-0ADE-421E-B03B-7104D3EECC6F}" type="presParOf" srcId="{A5A119DB-0FF7-44C5-B43F-2B4AF8F639B4}" destId="{8107309B-8CBF-4CE1-9A89-FD5F82DDCAA8}" srcOrd="1" destOrd="0" presId="urn:microsoft.com/office/officeart/2018/2/layout/IconLabelList"/>
    <dgm:cxn modelId="{B40D1D97-43F4-437D-AD5C-6218C4FC4EDA}" type="presParOf" srcId="{A5A119DB-0FF7-44C5-B43F-2B4AF8F639B4}" destId="{4A98284C-32A9-4530-97BF-B9F09E86C5A8}" srcOrd="2" destOrd="0" presId="urn:microsoft.com/office/officeart/2018/2/layout/IconLabelList"/>
    <dgm:cxn modelId="{AEB62905-D1E4-4566-B704-C2BCC952F872}" type="presParOf" srcId="{4A98284C-32A9-4530-97BF-B9F09E86C5A8}" destId="{44CD2EEF-3BCF-446E-B038-387FDD5F0571}" srcOrd="0" destOrd="0" presId="urn:microsoft.com/office/officeart/2018/2/layout/IconLabelList"/>
    <dgm:cxn modelId="{DB6A52B1-676E-485A-AE8B-0584983963CF}" type="presParOf" srcId="{4A98284C-32A9-4530-97BF-B9F09E86C5A8}" destId="{6E00444C-7F0C-41B8-8A2B-9218C8A889CF}" srcOrd="1" destOrd="0" presId="urn:microsoft.com/office/officeart/2018/2/layout/IconLabelList"/>
    <dgm:cxn modelId="{9D24012B-4FD6-45D4-B3A4-08519A4AB2C9}" type="presParOf" srcId="{4A98284C-32A9-4530-97BF-B9F09E86C5A8}" destId="{1D0F8A58-D065-4A11-A79C-1751A41D2AD9}" srcOrd="2" destOrd="0" presId="urn:microsoft.com/office/officeart/2018/2/layout/IconLabelList"/>
    <dgm:cxn modelId="{4EF60360-A113-413E-9B18-07B4BE37D948}" type="presParOf" srcId="{A5A119DB-0FF7-44C5-B43F-2B4AF8F639B4}" destId="{780D51F2-2061-4CA3-91AE-1FDA0FA46FAC}" srcOrd="3" destOrd="0" presId="urn:microsoft.com/office/officeart/2018/2/layout/IconLabelList"/>
    <dgm:cxn modelId="{E0B73FFC-F0B8-40E9-85D9-A0491B247994}" type="presParOf" srcId="{A5A119DB-0FF7-44C5-B43F-2B4AF8F639B4}" destId="{F9B3981B-2903-4F04-91DD-DD707EB33BAB}" srcOrd="4" destOrd="0" presId="urn:microsoft.com/office/officeart/2018/2/layout/IconLabelList"/>
    <dgm:cxn modelId="{840FBFC1-7471-4614-BCA6-20D1706781C5}" type="presParOf" srcId="{F9B3981B-2903-4F04-91DD-DD707EB33BAB}" destId="{DCAEA518-BCC8-4709-A39A-713CE43D00CD}" srcOrd="0" destOrd="0" presId="urn:microsoft.com/office/officeart/2018/2/layout/IconLabelList"/>
    <dgm:cxn modelId="{A86B3AF1-8834-4A0D-BAA6-E4350C980739}" type="presParOf" srcId="{F9B3981B-2903-4F04-91DD-DD707EB33BAB}" destId="{15DFD624-269C-4B95-B9F5-AFB60A8B93C0}" srcOrd="1" destOrd="0" presId="urn:microsoft.com/office/officeart/2018/2/layout/IconLabelList"/>
    <dgm:cxn modelId="{BCA92DCD-5111-41E5-B203-7BC3B020DA63}" type="presParOf" srcId="{F9B3981B-2903-4F04-91DD-DD707EB33BAB}" destId="{0CE5AF8A-A52F-431F-87B0-ABB6B4BBAE79}"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ACA5811-A682-4B82-A02E-C47A61B0E3F3}"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72FD363A-48C2-4B16-9B12-40C1A5D267AD}">
      <dgm:prSet/>
      <dgm:spPr/>
      <dgm:t>
        <a:bodyPr/>
        <a:lstStyle/>
        <a:p>
          <a:pPr>
            <a:lnSpc>
              <a:spcPct val="100000"/>
            </a:lnSpc>
          </a:pPr>
          <a:r>
            <a:rPr lang="en-US"/>
            <a:t>Blockchain: Guarantees data ownership and access control.</a:t>
          </a:r>
        </a:p>
      </dgm:t>
    </dgm:pt>
    <dgm:pt modelId="{48201EC8-4855-444B-A3E1-D7C5662F898F}" type="parTrans" cxnId="{5323E957-5E22-4DE4-9AE6-313BF9F7F48B}">
      <dgm:prSet/>
      <dgm:spPr/>
      <dgm:t>
        <a:bodyPr/>
        <a:lstStyle/>
        <a:p>
          <a:endParaRPr lang="en-US"/>
        </a:p>
      </dgm:t>
    </dgm:pt>
    <dgm:pt modelId="{5A0D2AF4-088B-4285-8D6F-23DF38E07309}" type="sibTrans" cxnId="{5323E957-5E22-4DE4-9AE6-313BF9F7F48B}">
      <dgm:prSet/>
      <dgm:spPr/>
      <dgm:t>
        <a:bodyPr/>
        <a:lstStyle/>
        <a:p>
          <a:pPr>
            <a:lnSpc>
              <a:spcPct val="100000"/>
            </a:lnSpc>
          </a:pPr>
          <a:endParaRPr lang="en-US"/>
        </a:p>
      </dgm:t>
    </dgm:pt>
    <dgm:pt modelId="{7276892A-1E84-4CF9-B4AC-5CBEE7542015}">
      <dgm:prSet/>
      <dgm:spPr/>
      <dgm:t>
        <a:bodyPr/>
        <a:lstStyle/>
        <a:p>
          <a:pPr>
            <a:lnSpc>
              <a:spcPct val="100000"/>
            </a:lnSpc>
          </a:pPr>
          <a:r>
            <a:rPr lang="en-US"/>
            <a:t>AI-based secure computing platform: Analyzes access requests and ensures authorized data usage.</a:t>
          </a:r>
        </a:p>
      </dgm:t>
    </dgm:pt>
    <dgm:pt modelId="{DB3D5EF4-3A02-4469-8689-8C969A76B2E3}" type="parTrans" cxnId="{CBDF89DE-78C5-4093-9EC8-AA304E3D19DA}">
      <dgm:prSet/>
      <dgm:spPr/>
      <dgm:t>
        <a:bodyPr/>
        <a:lstStyle/>
        <a:p>
          <a:endParaRPr lang="en-US"/>
        </a:p>
      </dgm:t>
    </dgm:pt>
    <dgm:pt modelId="{D6853C35-DAFB-4D01-8FFD-C54F3327E20B}" type="sibTrans" cxnId="{CBDF89DE-78C5-4093-9EC8-AA304E3D19DA}">
      <dgm:prSet/>
      <dgm:spPr/>
      <dgm:t>
        <a:bodyPr/>
        <a:lstStyle/>
        <a:p>
          <a:pPr>
            <a:lnSpc>
              <a:spcPct val="100000"/>
            </a:lnSpc>
          </a:pPr>
          <a:endParaRPr lang="en-US"/>
        </a:p>
      </dgm:t>
    </dgm:pt>
    <dgm:pt modelId="{3E312830-B73C-45BF-931B-D7F7AA353984}">
      <dgm:prSet/>
      <dgm:spPr/>
      <dgm:t>
        <a:bodyPr/>
        <a:lstStyle/>
        <a:p>
          <a:pPr>
            <a:lnSpc>
              <a:spcPct val="100000"/>
            </a:lnSpc>
          </a:pPr>
          <a:r>
            <a:rPr lang="en-US"/>
            <a:t>Blockchain-based incentive mechanism: Rewards users for sharing data, promoting data contribution and fostering a robust AI.</a:t>
          </a:r>
        </a:p>
      </dgm:t>
    </dgm:pt>
    <dgm:pt modelId="{9B64E288-6D95-4B85-82FB-539F32942E59}" type="parTrans" cxnId="{345ED480-2B3B-448B-914C-84FE531A4EE8}">
      <dgm:prSet/>
      <dgm:spPr/>
      <dgm:t>
        <a:bodyPr/>
        <a:lstStyle/>
        <a:p>
          <a:endParaRPr lang="en-US"/>
        </a:p>
      </dgm:t>
    </dgm:pt>
    <dgm:pt modelId="{CE9412FD-AB2C-457E-8092-DD99D0A94677}" type="sibTrans" cxnId="{345ED480-2B3B-448B-914C-84FE531A4EE8}">
      <dgm:prSet/>
      <dgm:spPr/>
      <dgm:t>
        <a:bodyPr/>
        <a:lstStyle/>
        <a:p>
          <a:endParaRPr lang="en-US"/>
        </a:p>
      </dgm:t>
    </dgm:pt>
    <dgm:pt modelId="{280C584C-7236-4075-86FA-263CAB4286A7}" type="pres">
      <dgm:prSet presAssocID="{1ACA5811-A682-4B82-A02E-C47A61B0E3F3}" presName="root" presStyleCnt="0">
        <dgm:presLayoutVars>
          <dgm:dir/>
          <dgm:resizeHandles val="exact"/>
        </dgm:presLayoutVars>
      </dgm:prSet>
      <dgm:spPr/>
    </dgm:pt>
    <dgm:pt modelId="{97BA38CD-1147-415B-812F-AD884066B100}" type="pres">
      <dgm:prSet presAssocID="{1ACA5811-A682-4B82-A02E-C47A61B0E3F3}" presName="container" presStyleCnt="0">
        <dgm:presLayoutVars>
          <dgm:dir/>
          <dgm:resizeHandles val="exact"/>
        </dgm:presLayoutVars>
      </dgm:prSet>
      <dgm:spPr/>
    </dgm:pt>
    <dgm:pt modelId="{96C46D5B-DA0D-4307-A2BF-0C55C815CE90}" type="pres">
      <dgm:prSet presAssocID="{72FD363A-48C2-4B16-9B12-40C1A5D267AD}" presName="compNode" presStyleCnt="0"/>
      <dgm:spPr/>
    </dgm:pt>
    <dgm:pt modelId="{A222F92E-DD9E-4A1F-B43C-FD25EFC848E7}" type="pres">
      <dgm:prSet presAssocID="{72FD363A-48C2-4B16-9B12-40C1A5D267AD}" presName="iconBgRect" presStyleLbl="bgShp" presStyleIdx="0" presStyleCnt="3"/>
      <dgm:spPr/>
    </dgm:pt>
    <dgm:pt modelId="{DD23AD15-1C1A-4995-8505-102E44172389}" type="pres">
      <dgm:prSet presAssocID="{72FD363A-48C2-4B16-9B12-40C1A5D267A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edding Rings"/>
        </a:ext>
      </dgm:extLst>
    </dgm:pt>
    <dgm:pt modelId="{D49DD7DC-ADDF-4C65-B4FC-397FB2A25DA5}" type="pres">
      <dgm:prSet presAssocID="{72FD363A-48C2-4B16-9B12-40C1A5D267AD}" presName="spaceRect" presStyleCnt="0"/>
      <dgm:spPr/>
    </dgm:pt>
    <dgm:pt modelId="{8C9CE9C4-3BD5-4614-9059-9CF1FFE04DF9}" type="pres">
      <dgm:prSet presAssocID="{72FD363A-48C2-4B16-9B12-40C1A5D267AD}" presName="textRect" presStyleLbl="revTx" presStyleIdx="0" presStyleCnt="3">
        <dgm:presLayoutVars>
          <dgm:chMax val="1"/>
          <dgm:chPref val="1"/>
        </dgm:presLayoutVars>
      </dgm:prSet>
      <dgm:spPr/>
    </dgm:pt>
    <dgm:pt modelId="{212679AA-753C-4B8B-BD99-52FF65C2F610}" type="pres">
      <dgm:prSet presAssocID="{5A0D2AF4-088B-4285-8D6F-23DF38E07309}" presName="sibTrans" presStyleLbl="sibTrans2D1" presStyleIdx="0" presStyleCnt="0"/>
      <dgm:spPr/>
    </dgm:pt>
    <dgm:pt modelId="{6A30180A-4AC9-4714-A30D-B5A7C0DEBE97}" type="pres">
      <dgm:prSet presAssocID="{7276892A-1E84-4CF9-B4AC-5CBEE7542015}" presName="compNode" presStyleCnt="0"/>
      <dgm:spPr/>
    </dgm:pt>
    <dgm:pt modelId="{7620909A-451A-4F51-AE4B-E1969CEAB8D6}" type="pres">
      <dgm:prSet presAssocID="{7276892A-1E84-4CF9-B4AC-5CBEE7542015}" presName="iconBgRect" presStyleLbl="bgShp" presStyleIdx="1" presStyleCnt="3"/>
      <dgm:spPr/>
    </dgm:pt>
    <dgm:pt modelId="{07274860-85E9-4B52-A566-0F677B67A6A8}" type="pres">
      <dgm:prSet presAssocID="{7276892A-1E84-4CF9-B4AC-5CBEE754201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loud Computing"/>
        </a:ext>
      </dgm:extLst>
    </dgm:pt>
    <dgm:pt modelId="{5E316AA8-DD52-4911-A91D-859F51E196E7}" type="pres">
      <dgm:prSet presAssocID="{7276892A-1E84-4CF9-B4AC-5CBEE7542015}" presName="spaceRect" presStyleCnt="0"/>
      <dgm:spPr/>
    </dgm:pt>
    <dgm:pt modelId="{FEB6E0D0-7678-4F97-BB7E-1F9330C30F9A}" type="pres">
      <dgm:prSet presAssocID="{7276892A-1E84-4CF9-B4AC-5CBEE7542015}" presName="textRect" presStyleLbl="revTx" presStyleIdx="1" presStyleCnt="3">
        <dgm:presLayoutVars>
          <dgm:chMax val="1"/>
          <dgm:chPref val="1"/>
        </dgm:presLayoutVars>
      </dgm:prSet>
      <dgm:spPr/>
    </dgm:pt>
    <dgm:pt modelId="{76EFC808-BE45-432A-BD91-6DF847AC47D6}" type="pres">
      <dgm:prSet presAssocID="{D6853C35-DAFB-4D01-8FFD-C54F3327E20B}" presName="sibTrans" presStyleLbl="sibTrans2D1" presStyleIdx="0" presStyleCnt="0"/>
      <dgm:spPr/>
    </dgm:pt>
    <dgm:pt modelId="{BA326257-96E4-4767-ACD0-F1017D8DA17A}" type="pres">
      <dgm:prSet presAssocID="{3E312830-B73C-45BF-931B-D7F7AA353984}" presName="compNode" presStyleCnt="0"/>
      <dgm:spPr/>
    </dgm:pt>
    <dgm:pt modelId="{6ABEC1DB-C038-44ED-917B-A368A158298E}" type="pres">
      <dgm:prSet presAssocID="{3E312830-B73C-45BF-931B-D7F7AA353984}" presName="iconBgRect" presStyleLbl="bgShp" presStyleIdx="2" presStyleCnt="3"/>
      <dgm:spPr/>
    </dgm:pt>
    <dgm:pt modelId="{B97B02A0-0152-49F7-9AA2-D1083F9579CA}" type="pres">
      <dgm:prSet presAssocID="{3E312830-B73C-45BF-931B-D7F7AA35398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allet"/>
        </a:ext>
      </dgm:extLst>
    </dgm:pt>
    <dgm:pt modelId="{DF658EEA-7E26-44C1-A9A5-EC5A6E762EA6}" type="pres">
      <dgm:prSet presAssocID="{3E312830-B73C-45BF-931B-D7F7AA353984}" presName="spaceRect" presStyleCnt="0"/>
      <dgm:spPr/>
    </dgm:pt>
    <dgm:pt modelId="{87CD8229-C8F4-4631-9A62-7EC83C007FE6}" type="pres">
      <dgm:prSet presAssocID="{3E312830-B73C-45BF-931B-D7F7AA353984}" presName="textRect" presStyleLbl="revTx" presStyleIdx="2" presStyleCnt="3">
        <dgm:presLayoutVars>
          <dgm:chMax val="1"/>
          <dgm:chPref val="1"/>
        </dgm:presLayoutVars>
      </dgm:prSet>
      <dgm:spPr/>
    </dgm:pt>
  </dgm:ptLst>
  <dgm:cxnLst>
    <dgm:cxn modelId="{41593216-0326-4135-9087-4785C34FB3F5}" type="presOf" srcId="{72FD363A-48C2-4B16-9B12-40C1A5D267AD}" destId="{8C9CE9C4-3BD5-4614-9059-9CF1FFE04DF9}" srcOrd="0" destOrd="0" presId="urn:microsoft.com/office/officeart/2018/2/layout/IconCircleList"/>
    <dgm:cxn modelId="{DE838322-FB92-4F9D-8AA0-B23CC94E5EE7}" type="presOf" srcId="{7276892A-1E84-4CF9-B4AC-5CBEE7542015}" destId="{FEB6E0D0-7678-4F97-BB7E-1F9330C30F9A}" srcOrd="0" destOrd="0" presId="urn:microsoft.com/office/officeart/2018/2/layout/IconCircleList"/>
    <dgm:cxn modelId="{B064166F-3906-41AD-83D3-3170BDE8925F}" type="presOf" srcId="{3E312830-B73C-45BF-931B-D7F7AA353984}" destId="{87CD8229-C8F4-4631-9A62-7EC83C007FE6}" srcOrd="0" destOrd="0" presId="urn:microsoft.com/office/officeart/2018/2/layout/IconCircleList"/>
    <dgm:cxn modelId="{5323E957-5E22-4DE4-9AE6-313BF9F7F48B}" srcId="{1ACA5811-A682-4B82-A02E-C47A61B0E3F3}" destId="{72FD363A-48C2-4B16-9B12-40C1A5D267AD}" srcOrd="0" destOrd="0" parTransId="{48201EC8-4855-444B-A3E1-D7C5662F898F}" sibTransId="{5A0D2AF4-088B-4285-8D6F-23DF38E07309}"/>
    <dgm:cxn modelId="{345ED480-2B3B-448B-914C-84FE531A4EE8}" srcId="{1ACA5811-A682-4B82-A02E-C47A61B0E3F3}" destId="{3E312830-B73C-45BF-931B-D7F7AA353984}" srcOrd="2" destOrd="0" parTransId="{9B64E288-6D95-4B85-82FB-539F32942E59}" sibTransId="{CE9412FD-AB2C-457E-8092-DD99D0A94677}"/>
    <dgm:cxn modelId="{377B34A0-18F4-4795-9610-38BE5307DF9B}" type="presOf" srcId="{5A0D2AF4-088B-4285-8D6F-23DF38E07309}" destId="{212679AA-753C-4B8B-BD99-52FF65C2F610}" srcOrd="0" destOrd="0" presId="urn:microsoft.com/office/officeart/2018/2/layout/IconCircleList"/>
    <dgm:cxn modelId="{85E007B0-28F7-4037-AE2D-D50E30FDC53B}" type="presOf" srcId="{D6853C35-DAFB-4D01-8FFD-C54F3327E20B}" destId="{76EFC808-BE45-432A-BD91-6DF847AC47D6}" srcOrd="0" destOrd="0" presId="urn:microsoft.com/office/officeart/2018/2/layout/IconCircleList"/>
    <dgm:cxn modelId="{7B2137D4-702D-4504-89F7-BE9F47B15CF3}" type="presOf" srcId="{1ACA5811-A682-4B82-A02E-C47A61B0E3F3}" destId="{280C584C-7236-4075-86FA-263CAB4286A7}" srcOrd="0" destOrd="0" presId="urn:microsoft.com/office/officeart/2018/2/layout/IconCircleList"/>
    <dgm:cxn modelId="{CBDF89DE-78C5-4093-9EC8-AA304E3D19DA}" srcId="{1ACA5811-A682-4B82-A02E-C47A61B0E3F3}" destId="{7276892A-1E84-4CF9-B4AC-5CBEE7542015}" srcOrd="1" destOrd="0" parTransId="{DB3D5EF4-3A02-4469-8689-8C969A76B2E3}" sibTransId="{D6853C35-DAFB-4D01-8FFD-C54F3327E20B}"/>
    <dgm:cxn modelId="{774B28CF-C86A-462C-98CE-1E1A141D468F}" type="presParOf" srcId="{280C584C-7236-4075-86FA-263CAB4286A7}" destId="{97BA38CD-1147-415B-812F-AD884066B100}" srcOrd="0" destOrd="0" presId="urn:microsoft.com/office/officeart/2018/2/layout/IconCircleList"/>
    <dgm:cxn modelId="{07F36F1A-ACC9-409D-8200-147C2650C03B}" type="presParOf" srcId="{97BA38CD-1147-415B-812F-AD884066B100}" destId="{96C46D5B-DA0D-4307-A2BF-0C55C815CE90}" srcOrd="0" destOrd="0" presId="urn:microsoft.com/office/officeart/2018/2/layout/IconCircleList"/>
    <dgm:cxn modelId="{09B4150B-ADDA-4F0B-9DA3-E7DC99D5B6D9}" type="presParOf" srcId="{96C46D5B-DA0D-4307-A2BF-0C55C815CE90}" destId="{A222F92E-DD9E-4A1F-B43C-FD25EFC848E7}" srcOrd="0" destOrd="0" presId="urn:microsoft.com/office/officeart/2018/2/layout/IconCircleList"/>
    <dgm:cxn modelId="{289319C5-B54E-4F32-A323-7C7A6E15A486}" type="presParOf" srcId="{96C46D5B-DA0D-4307-A2BF-0C55C815CE90}" destId="{DD23AD15-1C1A-4995-8505-102E44172389}" srcOrd="1" destOrd="0" presId="urn:microsoft.com/office/officeart/2018/2/layout/IconCircleList"/>
    <dgm:cxn modelId="{DA1ADF2C-2B5D-47F1-BF12-8B3DC8D8C6BE}" type="presParOf" srcId="{96C46D5B-DA0D-4307-A2BF-0C55C815CE90}" destId="{D49DD7DC-ADDF-4C65-B4FC-397FB2A25DA5}" srcOrd="2" destOrd="0" presId="urn:microsoft.com/office/officeart/2018/2/layout/IconCircleList"/>
    <dgm:cxn modelId="{71360526-B04F-46C0-8669-582D2BDF9FF6}" type="presParOf" srcId="{96C46D5B-DA0D-4307-A2BF-0C55C815CE90}" destId="{8C9CE9C4-3BD5-4614-9059-9CF1FFE04DF9}" srcOrd="3" destOrd="0" presId="urn:microsoft.com/office/officeart/2018/2/layout/IconCircleList"/>
    <dgm:cxn modelId="{EF941148-9211-407B-BDA2-5860FF6DC712}" type="presParOf" srcId="{97BA38CD-1147-415B-812F-AD884066B100}" destId="{212679AA-753C-4B8B-BD99-52FF65C2F610}" srcOrd="1" destOrd="0" presId="urn:microsoft.com/office/officeart/2018/2/layout/IconCircleList"/>
    <dgm:cxn modelId="{3DEFE6F0-F646-407A-A589-EC07ACFC7D4E}" type="presParOf" srcId="{97BA38CD-1147-415B-812F-AD884066B100}" destId="{6A30180A-4AC9-4714-A30D-B5A7C0DEBE97}" srcOrd="2" destOrd="0" presId="urn:microsoft.com/office/officeart/2018/2/layout/IconCircleList"/>
    <dgm:cxn modelId="{528E0A3D-FF21-4335-8880-A9E677A44EC2}" type="presParOf" srcId="{6A30180A-4AC9-4714-A30D-B5A7C0DEBE97}" destId="{7620909A-451A-4F51-AE4B-E1969CEAB8D6}" srcOrd="0" destOrd="0" presId="urn:microsoft.com/office/officeart/2018/2/layout/IconCircleList"/>
    <dgm:cxn modelId="{76AD9307-4F3E-40F9-8D79-5360A7686F7A}" type="presParOf" srcId="{6A30180A-4AC9-4714-A30D-B5A7C0DEBE97}" destId="{07274860-85E9-4B52-A566-0F677B67A6A8}" srcOrd="1" destOrd="0" presId="urn:microsoft.com/office/officeart/2018/2/layout/IconCircleList"/>
    <dgm:cxn modelId="{63FC9230-CB90-4F8D-B368-7500ECF8420D}" type="presParOf" srcId="{6A30180A-4AC9-4714-A30D-B5A7C0DEBE97}" destId="{5E316AA8-DD52-4911-A91D-859F51E196E7}" srcOrd="2" destOrd="0" presId="urn:microsoft.com/office/officeart/2018/2/layout/IconCircleList"/>
    <dgm:cxn modelId="{5E86AC84-32DA-4D2C-9309-838DAECCAB72}" type="presParOf" srcId="{6A30180A-4AC9-4714-A30D-B5A7C0DEBE97}" destId="{FEB6E0D0-7678-4F97-BB7E-1F9330C30F9A}" srcOrd="3" destOrd="0" presId="urn:microsoft.com/office/officeart/2018/2/layout/IconCircleList"/>
    <dgm:cxn modelId="{34915BFE-09E9-41F8-8331-28A5C2A5B472}" type="presParOf" srcId="{97BA38CD-1147-415B-812F-AD884066B100}" destId="{76EFC808-BE45-432A-BD91-6DF847AC47D6}" srcOrd="3" destOrd="0" presId="urn:microsoft.com/office/officeart/2018/2/layout/IconCircleList"/>
    <dgm:cxn modelId="{28FB31D7-9532-4F2A-8AE5-B8EDE7D5A60A}" type="presParOf" srcId="{97BA38CD-1147-415B-812F-AD884066B100}" destId="{BA326257-96E4-4767-ACD0-F1017D8DA17A}" srcOrd="4" destOrd="0" presId="urn:microsoft.com/office/officeart/2018/2/layout/IconCircleList"/>
    <dgm:cxn modelId="{F0D2C38A-16BB-421C-9857-6D69C4F6A8E7}" type="presParOf" srcId="{BA326257-96E4-4767-ACD0-F1017D8DA17A}" destId="{6ABEC1DB-C038-44ED-917B-A368A158298E}" srcOrd="0" destOrd="0" presId="urn:microsoft.com/office/officeart/2018/2/layout/IconCircleList"/>
    <dgm:cxn modelId="{22875A9C-1C26-4C8F-82EE-A93A79F98787}" type="presParOf" srcId="{BA326257-96E4-4767-ACD0-F1017D8DA17A}" destId="{B97B02A0-0152-49F7-9AA2-D1083F9579CA}" srcOrd="1" destOrd="0" presId="urn:microsoft.com/office/officeart/2018/2/layout/IconCircleList"/>
    <dgm:cxn modelId="{AE795949-8A5A-419D-BFED-7B39180AACFB}" type="presParOf" srcId="{BA326257-96E4-4767-ACD0-F1017D8DA17A}" destId="{DF658EEA-7E26-44C1-A9A5-EC5A6E762EA6}" srcOrd="2" destOrd="0" presId="urn:microsoft.com/office/officeart/2018/2/layout/IconCircleList"/>
    <dgm:cxn modelId="{2AA05E79-0EEA-4F6A-911B-FCB2F20D3CA2}" type="presParOf" srcId="{BA326257-96E4-4767-ACD0-F1017D8DA17A}" destId="{87CD8229-C8F4-4631-9A62-7EC83C007FE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065538-B31A-4E6B-B4EC-E0926CD70778}">
      <dsp:nvSpPr>
        <dsp:cNvPr id="0" name=""/>
        <dsp:cNvSpPr/>
      </dsp:nvSpPr>
      <dsp:spPr>
        <a:xfrm>
          <a:off x="279377" y="879519"/>
          <a:ext cx="722666" cy="72266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04715B-6CAE-456B-9DE6-F8B99A2E6676}">
      <dsp:nvSpPr>
        <dsp:cNvPr id="0" name=""/>
        <dsp:cNvSpPr/>
      </dsp:nvSpPr>
      <dsp:spPr>
        <a:xfrm>
          <a:off x="431137" y="1031279"/>
          <a:ext cx="419146" cy="41914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86361F-ECD0-48C4-B277-8BE74B251E9C}">
      <dsp:nvSpPr>
        <dsp:cNvPr id="0" name=""/>
        <dsp:cNvSpPr/>
      </dsp:nvSpPr>
      <dsp:spPr>
        <a:xfrm>
          <a:off x="1156900" y="879519"/>
          <a:ext cx="1703428" cy="72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Blockchain-based data sharing:</a:t>
          </a:r>
          <a:r>
            <a:rPr lang="en-US" sz="1100" kern="1200" dirty="0"/>
            <a:t> </a:t>
          </a:r>
          <a:r>
            <a:rPr lang="en-US" sz="1100" kern="1200" dirty="0">
              <a:solidFill>
                <a:srgbClr val="000000"/>
              </a:solidFill>
              <a:latin typeface="Trebuchet MS" panose="020B0603020202020204"/>
            </a:rPr>
            <a:t> </a:t>
          </a:r>
          <a:r>
            <a:rPr lang="en-US" sz="1100" kern="1200" dirty="0">
              <a:solidFill>
                <a:schemeClr val="tx1"/>
              </a:solidFill>
              <a:latin typeface="Trebuchet MS" panose="020B0603020202020204"/>
            </a:rPr>
            <a:t>Ensures data ownership and enables trusted sharing for real big data creation.</a:t>
          </a:r>
        </a:p>
      </dsp:txBody>
      <dsp:txXfrm>
        <a:off x="1156900" y="879519"/>
        <a:ext cx="1703428" cy="722666"/>
      </dsp:txXfrm>
    </dsp:sp>
    <dsp:sp modelId="{DA69C6CE-4DE8-4D05-83BD-A0DEE0CC5C2B}">
      <dsp:nvSpPr>
        <dsp:cNvPr id="0" name=""/>
        <dsp:cNvSpPr/>
      </dsp:nvSpPr>
      <dsp:spPr>
        <a:xfrm>
          <a:off x="3157138" y="879519"/>
          <a:ext cx="722666" cy="72266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CAEA24-579D-48E3-B599-8BF8512A57D9}">
      <dsp:nvSpPr>
        <dsp:cNvPr id="0" name=""/>
        <dsp:cNvSpPr/>
      </dsp:nvSpPr>
      <dsp:spPr>
        <a:xfrm>
          <a:off x="3308898" y="1031279"/>
          <a:ext cx="419146" cy="41914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BD217E-5E9F-465E-96BB-CB86A0478F08}">
      <dsp:nvSpPr>
        <dsp:cNvPr id="0" name=""/>
        <dsp:cNvSpPr/>
      </dsp:nvSpPr>
      <dsp:spPr>
        <a:xfrm>
          <a:off x="4034662" y="879519"/>
          <a:ext cx="1703428" cy="72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AI-based secure computing platform:</a:t>
          </a:r>
          <a:r>
            <a:rPr lang="en-US" sz="1100" kern="1200" dirty="0"/>
            <a:t> Creates intelligent security rules for a more secure cyberspace.</a:t>
          </a:r>
        </a:p>
      </dsp:txBody>
      <dsp:txXfrm>
        <a:off x="4034662" y="879519"/>
        <a:ext cx="1703428" cy="722666"/>
      </dsp:txXfrm>
    </dsp:sp>
    <dsp:sp modelId="{A876AAF4-6D59-4D1A-92AE-CA8606025DBD}">
      <dsp:nvSpPr>
        <dsp:cNvPr id="0" name=""/>
        <dsp:cNvSpPr/>
      </dsp:nvSpPr>
      <dsp:spPr>
        <a:xfrm>
          <a:off x="6034899" y="879519"/>
          <a:ext cx="722666" cy="72266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B6B6A6-CC7E-4F8F-8B1A-ED7D5C4A661E}">
      <dsp:nvSpPr>
        <dsp:cNvPr id="0" name=""/>
        <dsp:cNvSpPr/>
      </dsp:nvSpPr>
      <dsp:spPr>
        <a:xfrm>
          <a:off x="6186659" y="1031279"/>
          <a:ext cx="419146" cy="41914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B399B6-4356-4C53-A57A-25CA15FB877E}">
      <dsp:nvSpPr>
        <dsp:cNvPr id="0" name=""/>
        <dsp:cNvSpPr/>
      </dsp:nvSpPr>
      <dsp:spPr>
        <a:xfrm>
          <a:off x="6912423" y="879519"/>
          <a:ext cx="1703428" cy="72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Trusted value-exchange mechanism:</a:t>
          </a:r>
          <a:r>
            <a:rPr lang="en-US" sz="1100" kern="1200" dirty="0"/>
            <a:t> Provides economic rewards for data sharing, incentivizing participation and promoting AI performance.</a:t>
          </a:r>
        </a:p>
      </dsp:txBody>
      <dsp:txXfrm>
        <a:off x="6912423" y="879519"/>
        <a:ext cx="1703428" cy="7226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40DC9B-7EF6-4C53-8EEA-805D50CA6154}">
      <dsp:nvSpPr>
        <dsp:cNvPr id="0" name=""/>
        <dsp:cNvSpPr/>
      </dsp:nvSpPr>
      <dsp:spPr>
        <a:xfrm>
          <a:off x="839211" y="1386"/>
          <a:ext cx="2489867" cy="1581065"/>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6D365D-4B72-4E6B-BB65-4832860A7CA7}">
      <dsp:nvSpPr>
        <dsp:cNvPr id="0" name=""/>
        <dsp:cNvSpPr/>
      </dsp:nvSpPr>
      <dsp:spPr>
        <a:xfrm>
          <a:off x="1115863" y="264206"/>
          <a:ext cx="2489867" cy="1581065"/>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100000"/>
            </a:lnSpc>
            <a:spcBef>
              <a:spcPct val="0"/>
            </a:spcBef>
            <a:spcAft>
              <a:spcPct val="35000"/>
            </a:spcAft>
            <a:buNone/>
          </a:pPr>
          <a:r>
            <a:rPr lang="en-US" sz="1500" b="1" kern="1200"/>
            <a:t>Blockchain:</a:t>
          </a:r>
          <a:r>
            <a:rPr lang="en-US" sz="1500" kern="1200"/>
            <a:t> Manages data sharing with access control. Users define who can access their data, and only authorized users can view it.</a:t>
          </a:r>
        </a:p>
      </dsp:txBody>
      <dsp:txXfrm>
        <a:off x="1162171" y="310514"/>
        <a:ext cx="2397251" cy="1488449"/>
      </dsp:txXfrm>
    </dsp:sp>
    <dsp:sp modelId="{FDAF9781-338D-493A-B0CE-A1A880F2E808}">
      <dsp:nvSpPr>
        <dsp:cNvPr id="0" name=""/>
        <dsp:cNvSpPr/>
      </dsp:nvSpPr>
      <dsp:spPr>
        <a:xfrm>
          <a:off x="3882383" y="1386"/>
          <a:ext cx="2489867" cy="1581065"/>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C782ED-401E-4043-BC89-68571AE49016}">
      <dsp:nvSpPr>
        <dsp:cNvPr id="0" name=""/>
        <dsp:cNvSpPr/>
      </dsp:nvSpPr>
      <dsp:spPr>
        <a:xfrm>
          <a:off x="4159035" y="264206"/>
          <a:ext cx="2489867" cy="1581065"/>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100000"/>
            </a:lnSpc>
            <a:spcBef>
              <a:spcPct val="0"/>
            </a:spcBef>
            <a:spcAft>
              <a:spcPct val="35000"/>
            </a:spcAft>
            <a:buNone/>
          </a:pPr>
          <a:r>
            <a:rPr lang="en-US" sz="1500" b="1" kern="1200"/>
            <a:t>AI:</a:t>
          </a:r>
          <a:r>
            <a:rPr lang="en-US" sz="1500" kern="1200"/>
            <a:t> Functions as a secure computing platform. It checks if a user has permission to access data before allowing access.</a:t>
          </a:r>
        </a:p>
      </dsp:txBody>
      <dsp:txXfrm>
        <a:off x="4205343" y="310514"/>
        <a:ext cx="2397251" cy="1488449"/>
      </dsp:txXfrm>
    </dsp:sp>
    <dsp:sp modelId="{5775CCD0-EC1B-4064-89DC-1C2CCD773B86}">
      <dsp:nvSpPr>
        <dsp:cNvPr id="0" name=""/>
        <dsp:cNvSpPr/>
      </dsp:nvSpPr>
      <dsp:spPr>
        <a:xfrm>
          <a:off x="6925554" y="1386"/>
          <a:ext cx="2489867" cy="1581065"/>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5D4C18-1AAD-4645-9A31-12A56A48F711}">
      <dsp:nvSpPr>
        <dsp:cNvPr id="0" name=""/>
        <dsp:cNvSpPr/>
      </dsp:nvSpPr>
      <dsp:spPr>
        <a:xfrm>
          <a:off x="7202206" y="264206"/>
          <a:ext cx="2489867" cy="1581065"/>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100000"/>
            </a:lnSpc>
            <a:spcBef>
              <a:spcPct val="0"/>
            </a:spcBef>
            <a:spcAft>
              <a:spcPct val="35000"/>
            </a:spcAft>
            <a:buNone/>
          </a:pPr>
          <a:r>
            <a:rPr lang="en-US" sz="1500" b="1" kern="1200"/>
            <a:t>Rewards:</a:t>
          </a:r>
          <a:r>
            <a:rPr lang="en-US" sz="1500" kern="1200"/>
            <a:t> Users who share data earn rewards, incentivizing data sharing and improving AI performance.</a:t>
          </a:r>
        </a:p>
      </dsp:txBody>
      <dsp:txXfrm>
        <a:off x="7248514" y="310514"/>
        <a:ext cx="2397251" cy="14884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CD8BBD-0545-432C-B557-9D7D623B17F6}">
      <dsp:nvSpPr>
        <dsp:cNvPr id="0" name=""/>
        <dsp:cNvSpPr/>
      </dsp:nvSpPr>
      <dsp:spPr>
        <a:xfrm>
          <a:off x="784280" y="287310"/>
          <a:ext cx="1226125" cy="1226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0D98E5-3B7F-48EC-A054-2681E1CD2E26}">
      <dsp:nvSpPr>
        <dsp:cNvPr id="0" name=""/>
        <dsp:cNvSpPr/>
      </dsp:nvSpPr>
      <dsp:spPr>
        <a:xfrm>
          <a:off x="34981" y="1876980"/>
          <a:ext cx="2724723" cy="83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dirty="0">
              <a:solidFill>
                <a:schemeClr val="bg1"/>
              </a:solidFill>
            </a:rPr>
            <a:t>Mining Process:</a:t>
          </a:r>
          <a:r>
            <a:rPr lang="en-US" sz="1100" kern="1200" dirty="0">
              <a:solidFill>
                <a:schemeClr val="bg1"/>
              </a:solidFill>
            </a:rPr>
            <a:t> </a:t>
          </a:r>
          <a:r>
            <a:rPr lang="en-US" sz="1100" kern="1200" dirty="0" err="1">
              <a:solidFill>
                <a:schemeClr val="bg1"/>
              </a:solidFill>
            </a:rPr>
            <a:t>PoW</a:t>
          </a:r>
          <a:r>
            <a:rPr lang="en-US" sz="1100" kern="1200" dirty="0">
              <a:solidFill>
                <a:schemeClr val="bg1"/>
              </a:solidFill>
            </a:rPr>
            <a:t> involves complex puzzles solved by miners using computing power. This creates a secure and verifiable record of transactions on the Blockchain.</a:t>
          </a:r>
        </a:p>
      </dsp:txBody>
      <dsp:txXfrm>
        <a:off x="34981" y="1876980"/>
        <a:ext cx="2724723" cy="832500"/>
      </dsp:txXfrm>
    </dsp:sp>
    <dsp:sp modelId="{44CD2EEF-3BCF-446E-B038-387FDD5F0571}">
      <dsp:nvSpPr>
        <dsp:cNvPr id="0" name=""/>
        <dsp:cNvSpPr/>
      </dsp:nvSpPr>
      <dsp:spPr>
        <a:xfrm>
          <a:off x="3985829" y="287310"/>
          <a:ext cx="1226125" cy="1226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0F8A58-D065-4A11-A79C-1751A41D2AD9}">
      <dsp:nvSpPr>
        <dsp:cNvPr id="0" name=""/>
        <dsp:cNvSpPr/>
      </dsp:nvSpPr>
      <dsp:spPr>
        <a:xfrm>
          <a:off x="3236530" y="1876980"/>
          <a:ext cx="2724723" cy="83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dirty="0">
              <a:solidFill>
                <a:schemeClr val="bg1"/>
              </a:solidFill>
            </a:rPr>
            <a:t>Tamper-proof Ledger:</a:t>
          </a:r>
          <a:r>
            <a:rPr lang="en-US" sz="1100" kern="1200" dirty="0">
              <a:solidFill>
                <a:schemeClr val="bg1"/>
              </a:solidFill>
            </a:rPr>
            <a:t> The difficulty of solving these puzzles makes it nearly impossible to alter past transactions on the Blockchain, protecting data integrity.</a:t>
          </a:r>
        </a:p>
      </dsp:txBody>
      <dsp:txXfrm>
        <a:off x="3236530" y="1876980"/>
        <a:ext cx="2724723" cy="832500"/>
      </dsp:txXfrm>
    </dsp:sp>
    <dsp:sp modelId="{DCAEA518-BCC8-4709-A39A-713CE43D00CD}">
      <dsp:nvSpPr>
        <dsp:cNvPr id="0" name=""/>
        <dsp:cNvSpPr/>
      </dsp:nvSpPr>
      <dsp:spPr>
        <a:xfrm>
          <a:off x="7187379" y="287310"/>
          <a:ext cx="1226125" cy="1226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E5AF8A-A52F-431F-87B0-ABB6B4BBAE79}">
      <dsp:nvSpPr>
        <dsp:cNvPr id="0" name=""/>
        <dsp:cNvSpPr/>
      </dsp:nvSpPr>
      <dsp:spPr>
        <a:xfrm>
          <a:off x="6438080" y="1876980"/>
          <a:ext cx="2724723" cy="83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dirty="0">
              <a:solidFill>
                <a:schemeClr val="bg1"/>
              </a:solidFill>
            </a:rPr>
            <a:t>Network Decentralization:</a:t>
          </a:r>
          <a:r>
            <a:rPr lang="en-US" sz="1100" kern="1200" dirty="0">
              <a:solidFill>
                <a:schemeClr val="bg1"/>
              </a:solidFill>
            </a:rPr>
            <a:t> Anyone can participate in mining, which distributes the validation process and prevents a single entity from controlling the network. This strengthens overall security.</a:t>
          </a:r>
        </a:p>
      </dsp:txBody>
      <dsp:txXfrm>
        <a:off x="6438080" y="1876980"/>
        <a:ext cx="2724723" cy="8325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22F92E-DD9E-4A1F-B43C-FD25EFC848E7}">
      <dsp:nvSpPr>
        <dsp:cNvPr id="0" name=""/>
        <dsp:cNvSpPr/>
      </dsp:nvSpPr>
      <dsp:spPr>
        <a:xfrm>
          <a:off x="3156" y="1181590"/>
          <a:ext cx="526246" cy="526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23AD15-1C1A-4995-8505-102E44172389}">
      <dsp:nvSpPr>
        <dsp:cNvPr id="0" name=""/>
        <dsp:cNvSpPr/>
      </dsp:nvSpPr>
      <dsp:spPr>
        <a:xfrm>
          <a:off x="113668" y="1292102"/>
          <a:ext cx="305223" cy="3052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9CE9C4-3BD5-4614-9059-9CF1FFE04DF9}">
      <dsp:nvSpPr>
        <dsp:cNvPr id="0" name=""/>
        <dsp:cNvSpPr/>
      </dsp:nvSpPr>
      <dsp:spPr>
        <a:xfrm>
          <a:off x="642170" y="1181590"/>
          <a:ext cx="1240439" cy="526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Blockchain: Guarantees data ownership and access control.</a:t>
          </a:r>
        </a:p>
      </dsp:txBody>
      <dsp:txXfrm>
        <a:off x="642170" y="1181590"/>
        <a:ext cx="1240439" cy="526246"/>
      </dsp:txXfrm>
    </dsp:sp>
    <dsp:sp modelId="{7620909A-451A-4F51-AE4B-E1969CEAB8D6}">
      <dsp:nvSpPr>
        <dsp:cNvPr id="0" name=""/>
        <dsp:cNvSpPr/>
      </dsp:nvSpPr>
      <dsp:spPr>
        <a:xfrm>
          <a:off x="2098746" y="1181590"/>
          <a:ext cx="526246" cy="526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274860-85E9-4B52-A566-0F677B67A6A8}">
      <dsp:nvSpPr>
        <dsp:cNvPr id="0" name=""/>
        <dsp:cNvSpPr/>
      </dsp:nvSpPr>
      <dsp:spPr>
        <a:xfrm>
          <a:off x="2209258" y="1292102"/>
          <a:ext cx="305223" cy="3052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B6E0D0-7678-4F97-BB7E-1F9330C30F9A}">
      <dsp:nvSpPr>
        <dsp:cNvPr id="0" name=""/>
        <dsp:cNvSpPr/>
      </dsp:nvSpPr>
      <dsp:spPr>
        <a:xfrm>
          <a:off x="2737760" y="1181590"/>
          <a:ext cx="1240439" cy="526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AI-based secure computing platform: Analyzes access requests and ensures authorized data usage.</a:t>
          </a:r>
        </a:p>
      </dsp:txBody>
      <dsp:txXfrm>
        <a:off x="2737760" y="1181590"/>
        <a:ext cx="1240439" cy="526246"/>
      </dsp:txXfrm>
    </dsp:sp>
    <dsp:sp modelId="{6ABEC1DB-C038-44ED-917B-A368A158298E}">
      <dsp:nvSpPr>
        <dsp:cNvPr id="0" name=""/>
        <dsp:cNvSpPr/>
      </dsp:nvSpPr>
      <dsp:spPr>
        <a:xfrm>
          <a:off x="4194336" y="1181590"/>
          <a:ext cx="526246" cy="526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7B02A0-0152-49F7-9AA2-D1083F9579CA}">
      <dsp:nvSpPr>
        <dsp:cNvPr id="0" name=""/>
        <dsp:cNvSpPr/>
      </dsp:nvSpPr>
      <dsp:spPr>
        <a:xfrm>
          <a:off x="4304848" y="1292102"/>
          <a:ext cx="305223" cy="3052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CD8229-C8F4-4631-9A62-7EC83C007FE6}">
      <dsp:nvSpPr>
        <dsp:cNvPr id="0" name=""/>
        <dsp:cNvSpPr/>
      </dsp:nvSpPr>
      <dsp:spPr>
        <a:xfrm>
          <a:off x="4833350" y="1181590"/>
          <a:ext cx="1240439" cy="526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Blockchain-based incentive mechanism: Rewards users for sharing data, promoting data contribution and fostering a robust AI.</a:t>
          </a:r>
        </a:p>
      </dsp:txBody>
      <dsp:txXfrm>
        <a:off x="4833350" y="1181590"/>
        <a:ext cx="1240439" cy="526246"/>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47A3F0-0EF7-47A0-8659-06E7DBE4ECCC}" type="datetimeFigureOut">
              <a:rPr lang="en-IN" smtClean="0"/>
              <a:t>19-05-2024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9F517F-E963-4964-A265-FE5E99411707}" type="slidenum">
              <a:rPr lang="en-IN" smtClean="0"/>
              <a:t>‹#›</a:t>
            </a:fld>
            <a:endParaRPr lang="en-IN"/>
          </a:p>
        </p:txBody>
      </p:sp>
    </p:spTree>
    <p:extLst>
      <p:ext uri="{BB962C8B-B14F-4D97-AF65-F5344CB8AC3E}">
        <p14:creationId xmlns:p14="http://schemas.microsoft.com/office/powerpoint/2010/main" val="374090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930208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A54C80-263E-416B-A8E0-580EDEADCBDC}" type="datetimeFigureOut">
              <a:rPr lang="en-US" dirty="0"/>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2367163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77175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A54C80-263E-416B-A8E0-580EDEADCBDC}" type="datetimeFigureOut">
              <a:rPr lang="en-US" dirty="0"/>
              <a:t>5/19/2024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653986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5/19/2024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947041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5/19/2024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07277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140550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5/19/2024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1448205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pPr/>
              <a:t>5/19/2024</a:t>
            </a:fld>
            <a:endParaRPr lang="en-US"/>
          </a:p>
        </p:txBody>
      </p:sp>
    </p:spTree>
    <p:extLst>
      <p:ext uri="{BB962C8B-B14F-4D97-AF65-F5344CB8AC3E}">
        <p14:creationId xmlns:p14="http://schemas.microsoft.com/office/powerpoint/2010/main" val="2573421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72765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570750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8752260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16391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282403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dirty="0"/>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a:p>
        </p:txBody>
      </p:sp>
    </p:spTree>
    <p:extLst>
      <p:ext uri="{BB962C8B-B14F-4D97-AF65-F5344CB8AC3E}">
        <p14:creationId xmlns:p14="http://schemas.microsoft.com/office/powerpoint/2010/main" val="4218116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35530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5/19/2024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753663632"/>
      </p:ext>
    </p:extLst>
  </p:cSld>
  <p:clrMap bg1="lt1" tx1="dk1" bg2="lt2" tx2="dk2" accent1="accent1" accent2="accent2" accent3="accent3" accent4="accent4" accent5="accent5" accent6="accent6" hlink="hlink" folHlink="folHlink"/>
  <p:sldLayoutIdLst>
    <p:sldLayoutId id="2147484241" r:id="rId1"/>
    <p:sldLayoutId id="2147484242" r:id="rId2"/>
    <p:sldLayoutId id="2147484243" r:id="rId3"/>
    <p:sldLayoutId id="2147484244" r:id="rId4"/>
    <p:sldLayoutId id="2147484245" r:id="rId5"/>
    <p:sldLayoutId id="2147484246" r:id="rId6"/>
    <p:sldLayoutId id="2147484247" r:id="rId7"/>
    <p:sldLayoutId id="2147484248" r:id="rId8"/>
    <p:sldLayoutId id="2147484249" r:id="rId9"/>
    <p:sldLayoutId id="2147484250" r:id="rId10"/>
    <p:sldLayoutId id="2147484251" r:id="rId11"/>
    <p:sldLayoutId id="2147484252" r:id="rId12"/>
    <p:sldLayoutId id="2147484253" r:id="rId13"/>
    <p:sldLayoutId id="2147484254" r:id="rId14"/>
    <p:sldLayoutId id="2147484255" r:id="rId15"/>
    <p:sldLayoutId id="214748425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3" name="Picture 2" descr="Home – SMGIG – St.Mary's Guntur is an Educational ...">
            <a:extLst>
              <a:ext uri="{FF2B5EF4-FFF2-40B4-BE49-F238E27FC236}">
                <a16:creationId xmlns:a16="http://schemas.microsoft.com/office/drawing/2014/main" id="{C0B47829-2205-4619-15CB-DFEB435B085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7681"/>
          <a:stretch/>
        </p:blipFill>
        <p:spPr bwMode="auto">
          <a:xfrm>
            <a:off x="3324" y="147967"/>
            <a:ext cx="9179858" cy="1313013"/>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422D7CBC-16F7-973B-41F3-238ECD3F4B98}"/>
              </a:ext>
            </a:extLst>
          </p:cNvPr>
          <p:cNvSpPr txBox="1"/>
          <p:nvPr/>
        </p:nvSpPr>
        <p:spPr>
          <a:xfrm>
            <a:off x="705969" y="1460739"/>
            <a:ext cx="10460149" cy="1815882"/>
          </a:xfrm>
          <a:prstGeom prst="rect">
            <a:avLst/>
          </a:prstGeom>
          <a:noFill/>
        </p:spPr>
        <p:txBody>
          <a:bodyPr wrap="square" lIns="91440" tIns="45720" rIns="91440" bIns="45720" rtlCol="0" anchor="t">
            <a:spAutoFit/>
          </a:bodyPr>
          <a:lstStyle/>
          <a:p>
            <a:endParaRPr lang="en-US" sz="2800">
              <a:solidFill>
                <a:schemeClr val="accent1"/>
              </a:solidFill>
              <a:latin typeface="Arial Rounded MT Bold" panose="020F0704030504030204" pitchFamily="34" charset="0"/>
            </a:endParaRPr>
          </a:p>
          <a:p>
            <a:endParaRPr lang="en-US" sz="2800">
              <a:solidFill>
                <a:schemeClr val="accent1"/>
              </a:solidFill>
              <a:latin typeface="Times New Roman"/>
              <a:cs typeface="Times New Roman"/>
            </a:endParaRPr>
          </a:p>
          <a:p>
            <a:r>
              <a:rPr lang="en-US" sz="2800" dirty="0">
                <a:solidFill>
                  <a:schemeClr val="bg1"/>
                </a:solidFill>
                <a:latin typeface="Times New Roman"/>
                <a:cs typeface="Times New Roman"/>
              </a:rPr>
              <a:t>Project Title: </a:t>
            </a:r>
            <a:endParaRPr lang="en-US" sz="2800" dirty="0">
              <a:solidFill>
                <a:schemeClr val="bg1"/>
              </a:solidFill>
              <a:latin typeface="Arial Rounded MT Bold" panose="020F0704030504030204" pitchFamily="34" charset="0"/>
              <a:cs typeface="Times New Roman"/>
            </a:endParaRPr>
          </a:p>
          <a:p>
            <a:r>
              <a:rPr lang="en-US" sz="2400" dirty="0">
                <a:solidFill>
                  <a:schemeClr val="bg1"/>
                </a:solidFill>
                <a:latin typeface="Arial Rounded MT Bold"/>
                <a:cs typeface="Times New Roman"/>
              </a:rPr>
              <a:t>SECURING DATA WITH BLOCKCHAIN AND AI.</a:t>
            </a:r>
            <a:r>
              <a:rPr lang="en-US" sz="2400" dirty="0">
                <a:solidFill>
                  <a:schemeClr val="bg1"/>
                </a:solidFill>
                <a:latin typeface="Arial Rounded MT Bold"/>
              </a:rPr>
              <a:t> </a:t>
            </a:r>
            <a:endParaRPr lang="en-IN" sz="2400" dirty="0">
              <a:solidFill>
                <a:schemeClr val="bg1"/>
              </a:solidFill>
              <a:latin typeface="Arial Rounded MT Bold" panose="020F0704030504030204" pitchFamily="34" charset="0"/>
            </a:endParaRPr>
          </a:p>
        </p:txBody>
      </p:sp>
      <p:sp>
        <p:nvSpPr>
          <p:cNvPr id="6" name="Rectangle: Rounded Corners 5">
            <a:extLst>
              <a:ext uri="{FF2B5EF4-FFF2-40B4-BE49-F238E27FC236}">
                <a16:creationId xmlns:a16="http://schemas.microsoft.com/office/drawing/2014/main" id="{71257AD5-E354-036D-3B7B-AD34E02954A2}"/>
              </a:ext>
            </a:extLst>
          </p:cNvPr>
          <p:cNvSpPr/>
          <p:nvPr/>
        </p:nvSpPr>
        <p:spPr>
          <a:xfrm>
            <a:off x="2395746" y="4441867"/>
            <a:ext cx="6617109" cy="1897626"/>
          </a:xfrm>
          <a:prstGeom prst="snip2DiagRect">
            <a:avLst/>
          </a:prstGeom>
          <a:solidFill>
            <a:schemeClr val="tx2"/>
          </a:solidFill>
          <a:ln>
            <a:solidFill>
              <a:srgbClr val="4472C4"/>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89091EB4-A722-27AB-EA66-3CEA22C81818}"/>
              </a:ext>
            </a:extLst>
          </p:cNvPr>
          <p:cNvSpPr txBox="1"/>
          <p:nvPr/>
        </p:nvSpPr>
        <p:spPr>
          <a:xfrm>
            <a:off x="2391117" y="4445047"/>
            <a:ext cx="8160775" cy="2000548"/>
          </a:xfrm>
          <a:prstGeom prst="rect">
            <a:avLst/>
          </a:prstGeom>
          <a:noFill/>
        </p:spPr>
        <p:txBody>
          <a:bodyPr wrap="square" lIns="91440" tIns="45720" rIns="91440" bIns="45720" rtlCol="0" anchor="t">
            <a:spAutoFit/>
          </a:bodyPr>
          <a:lstStyle/>
          <a:p>
            <a:pPr marL="285750" indent="-285750">
              <a:lnSpc>
                <a:spcPct val="150000"/>
              </a:lnSpc>
              <a:buFont typeface="Wingdings" panose="020B0604020202020204" pitchFamily="34" charset="0"/>
              <a:buChar char="ü"/>
            </a:pPr>
            <a:r>
              <a:rPr lang="en-US" b="1" dirty="0">
                <a:solidFill>
                  <a:schemeClr val="accent1"/>
                </a:solidFill>
                <a:latin typeface="Trebuchet MS"/>
                <a:cs typeface="Times New Roman"/>
              </a:rPr>
              <a:t>Chitturi Sai Ganesh Kumar             -  20BJ1A4603.</a:t>
            </a:r>
            <a:endParaRPr lang="en-US" dirty="0">
              <a:solidFill>
                <a:schemeClr val="accent1"/>
              </a:solidFill>
              <a:latin typeface="Trebuchet MS"/>
              <a:cs typeface="Times New Roman"/>
            </a:endParaRPr>
          </a:p>
          <a:p>
            <a:pPr marL="285750" indent="-285750">
              <a:lnSpc>
                <a:spcPct val="150000"/>
              </a:lnSpc>
              <a:buFont typeface="Wingdings" panose="05000000000000000000" pitchFamily="2" charset="2"/>
              <a:buChar char="ü"/>
            </a:pPr>
            <a:r>
              <a:rPr lang="en-US" b="1" dirty="0" err="1">
                <a:solidFill>
                  <a:schemeClr val="accent1"/>
                </a:solidFill>
                <a:latin typeface="Trebuchet MS"/>
                <a:cs typeface="Times New Roman"/>
              </a:rPr>
              <a:t>Kagitha</a:t>
            </a:r>
            <a:r>
              <a:rPr lang="en-US" b="1" dirty="0">
                <a:solidFill>
                  <a:schemeClr val="accent1"/>
                </a:solidFill>
                <a:latin typeface="Trebuchet MS"/>
                <a:cs typeface="Times New Roman"/>
              </a:rPr>
              <a:t> Manohar                            -  20BJ1A4604.</a:t>
            </a:r>
          </a:p>
          <a:p>
            <a:pPr marL="285750" indent="-285750">
              <a:lnSpc>
                <a:spcPct val="150000"/>
              </a:lnSpc>
              <a:buFont typeface="Wingdings" panose="05000000000000000000" pitchFamily="2" charset="2"/>
              <a:buChar char="ü"/>
            </a:pPr>
            <a:r>
              <a:rPr lang="en-IN" b="1" err="1">
                <a:solidFill>
                  <a:schemeClr val="accent1"/>
                </a:solidFill>
                <a:latin typeface="Trebuchet MS"/>
                <a:cs typeface="Times New Roman"/>
              </a:rPr>
              <a:t>Rayapudi</a:t>
            </a:r>
            <a:r>
              <a:rPr lang="en-IN" b="1">
                <a:solidFill>
                  <a:schemeClr val="accent1"/>
                </a:solidFill>
                <a:latin typeface="Trebuchet MS"/>
                <a:cs typeface="Times New Roman"/>
              </a:rPr>
              <a:t> Lahari                             -  20BJ1A4609.</a:t>
            </a:r>
          </a:p>
          <a:p>
            <a:pPr marL="285750" indent="-285750">
              <a:lnSpc>
                <a:spcPct val="150000"/>
              </a:lnSpc>
              <a:buFont typeface="Wingdings" panose="05000000000000000000" pitchFamily="2" charset="2"/>
              <a:buChar char="ü"/>
            </a:pPr>
            <a:r>
              <a:rPr lang="en-IN" b="1" dirty="0">
                <a:solidFill>
                  <a:schemeClr val="accent1"/>
                </a:solidFill>
                <a:latin typeface="Trebuchet MS"/>
                <a:cs typeface="Times New Roman"/>
              </a:rPr>
              <a:t>Shaik Ismail                                    -  20BJ1A4611.</a:t>
            </a:r>
          </a:p>
          <a:p>
            <a:endParaRPr lang="en-IN" sz="1600" b="1">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A0012DC-B380-D2C6-5D36-FF8A17506768}"/>
              </a:ext>
            </a:extLst>
          </p:cNvPr>
          <p:cNvSpPr txBox="1"/>
          <p:nvPr/>
        </p:nvSpPr>
        <p:spPr>
          <a:xfrm>
            <a:off x="709804" y="1718477"/>
            <a:ext cx="8347586" cy="369332"/>
          </a:xfrm>
          <a:prstGeom prst="rect">
            <a:avLst/>
          </a:prstGeom>
          <a:noFill/>
        </p:spPr>
        <p:txBody>
          <a:bodyPr wrap="square" lIns="91440" tIns="45720" rIns="91440" bIns="45720" rtlCol="0" anchor="t">
            <a:spAutoFit/>
          </a:bodyPr>
          <a:lstStyle/>
          <a:p>
            <a:r>
              <a:rPr lang="en-US">
                <a:solidFill>
                  <a:schemeClr val="bg1"/>
                </a:solidFill>
                <a:latin typeface="Times New Roman"/>
                <a:cs typeface="Times New Roman"/>
              </a:rPr>
              <a:t>DEPARTMENT OF </a:t>
            </a:r>
            <a:r>
              <a:rPr lang="en-US">
                <a:solidFill>
                  <a:schemeClr val="bg1"/>
                </a:solidFill>
                <a:latin typeface="Arial Rounded MT Bold"/>
                <a:cs typeface="Times New Roman"/>
              </a:rPr>
              <a:t>CSE – CYBER SECURITY.</a:t>
            </a:r>
            <a:endParaRPr lang="en-IN">
              <a:solidFill>
                <a:schemeClr val="bg1"/>
              </a:solidFill>
              <a:latin typeface="Arial Rounded MT Bold"/>
              <a:cs typeface="Times New Roman"/>
            </a:endParaRPr>
          </a:p>
        </p:txBody>
      </p:sp>
      <p:sp>
        <p:nvSpPr>
          <p:cNvPr id="10" name="TextBox 9">
            <a:extLst>
              <a:ext uri="{FF2B5EF4-FFF2-40B4-BE49-F238E27FC236}">
                <a16:creationId xmlns:a16="http://schemas.microsoft.com/office/drawing/2014/main" id="{823E4B25-2BC2-79DB-566D-D86C4D44B1EA}"/>
              </a:ext>
            </a:extLst>
          </p:cNvPr>
          <p:cNvSpPr txBox="1"/>
          <p:nvPr/>
        </p:nvSpPr>
        <p:spPr>
          <a:xfrm>
            <a:off x="705246" y="3433268"/>
            <a:ext cx="7698659" cy="646331"/>
          </a:xfrm>
          <a:prstGeom prst="rect">
            <a:avLst/>
          </a:prstGeom>
          <a:noFill/>
        </p:spPr>
        <p:txBody>
          <a:bodyPr wrap="square" lIns="91440" tIns="45720" rIns="91440" bIns="45720" rtlCol="0" anchor="t">
            <a:spAutoFit/>
          </a:bodyPr>
          <a:lstStyle/>
          <a:p>
            <a:r>
              <a:rPr lang="en-US" b="1">
                <a:solidFill>
                  <a:schemeClr val="bg1"/>
                </a:solidFill>
                <a:latin typeface="Trebuchet MS"/>
                <a:cs typeface="Times New Roman"/>
              </a:rPr>
              <a:t>Head Of the Department </a:t>
            </a:r>
            <a:r>
              <a:rPr lang="en-US">
                <a:solidFill>
                  <a:schemeClr val="bg1"/>
                </a:solidFill>
                <a:latin typeface="Trebuchet MS"/>
                <a:cs typeface="Times New Roman"/>
              </a:rPr>
              <a:t>:</a:t>
            </a:r>
            <a:r>
              <a:rPr lang="en-US">
                <a:solidFill>
                  <a:schemeClr val="bg1"/>
                </a:solidFill>
                <a:latin typeface="Trebuchet MS"/>
              </a:rPr>
              <a:t>  Dr SSN Anjaneyulu Sir.</a:t>
            </a:r>
          </a:p>
          <a:p>
            <a:r>
              <a:rPr lang="en-US" b="1">
                <a:solidFill>
                  <a:schemeClr val="bg1"/>
                </a:solidFill>
                <a:latin typeface="Trebuchet MS"/>
                <a:cs typeface="Times New Roman"/>
              </a:rPr>
              <a:t>Project Guide                  </a:t>
            </a:r>
            <a:r>
              <a:rPr lang="en-US">
                <a:solidFill>
                  <a:schemeClr val="bg1"/>
                </a:solidFill>
                <a:latin typeface="Trebuchet MS"/>
                <a:cs typeface="Times New Roman"/>
              </a:rPr>
              <a:t>:  Shaik Subhani Sir </a:t>
            </a:r>
            <a:r>
              <a:rPr lang="en-US">
                <a:solidFill>
                  <a:schemeClr val="bg1"/>
                </a:solidFill>
                <a:latin typeface="Trebuchet MS"/>
              </a:rPr>
              <a:t>. </a:t>
            </a:r>
            <a:endParaRPr lang="en-IN">
              <a:solidFill>
                <a:schemeClr val="bg1"/>
              </a:solidFill>
              <a:latin typeface="Trebuchet MS"/>
            </a:endParaRPr>
          </a:p>
        </p:txBody>
      </p:sp>
    </p:spTree>
    <p:extLst>
      <p:ext uri="{BB962C8B-B14F-4D97-AF65-F5344CB8AC3E}">
        <p14:creationId xmlns:p14="http://schemas.microsoft.com/office/powerpoint/2010/main" val="4005584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 name="Straight Connector 8">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pic>
        <p:nvPicPr>
          <p:cNvPr id="3" name="Picture 2" descr="A robot holding a gold chain&#10;&#10;Description automatically generated">
            <a:extLst>
              <a:ext uri="{FF2B5EF4-FFF2-40B4-BE49-F238E27FC236}">
                <a16:creationId xmlns:a16="http://schemas.microsoft.com/office/drawing/2014/main" id="{CBCFA30D-7C25-E5C9-782C-4E74E2AD024C}"/>
              </a:ext>
            </a:extLst>
          </p:cNvPr>
          <p:cNvPicPr>
            <a:picLocks noChangeAspect="1"/>
          </p:cNvPicPr>
          <p:nvPr/>
        </p:nvPicPr>
        <p:blipFill rotWithShape="1">
          <a:blip r:embed="rId2"/>
          <a:srcRect l="33" t="11839" r="-167" b="32680"/>
          <a:stretch/>
        </p:blipFill>
        <p:spPr>
          <a:xfrm>
            <a:off x="4483" y="-11196"/>
            <a:ext cx="12196523" cy="6869106"/>
          </a:xfrm>
          <a:prstGeom prst="rect">
            <a:avLst/>
          </a:prstGeom>
        </p:spPr>
      </p:pic>
      <p:sp>
        <p:nvSpPr>
          <p:cNvPr id="25" name="Isosceles Triangle 24">
            <a:extLst>
              <a:ext uri="{FF2B5EF4-FFF2-40B4-BE49-F238E27FC236}">
                <a16:creationId xmlns:a16="http://schemas.microsoft.com/office/drawing/2014/main" id="{3559A5F2-8BE0-4998-A1E4-1B145465A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Parallelogram 26">
            <a:extLst>
              <a:ext uri="{FF2B5EF4-FFF2-40B4-BE49-F238E27FC236}">
                <a16:creationId xmlns:a16="http://schemas.microsoft.com/office/drawing/2014/main" id="{3A6596D4-D53C-424F-9F16-CC8686C079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84541" y="0"/>
            <a:ext cx="7315200" cy="6858000"/>
          </a:xfrm>
          <a:prstGeom prst="parallelogram">
            <a:avLst>
              <a:gd name="adj" fmla="val 14937"/>
            </a:avLst>
          </a:prstGeom>
          <a:solidFill>
            <a:schemeClr val="tx1">
              <a:alpha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81BB890B-70D4-42FE-A599-6AEF1A42D9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3842D646-B58C-43C8-8152-01BC782B72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3" name="Rectangle 23">
            <a:extLst>
              <a:ext uri="{FF2B5EF4-FFF2-40B4-BE49-F238E27FC236}">
                <a16:creationId xmlns:a16="http://schemas.microsoft.com/office/drawing/2014/main" id="{9772CABD-4211-42AA-B349-D4002E52F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Rectangle 25">
            <a:extLst>
              <a:ext uri="{FF2B5EF4-FFF2-40B4-BE49-F238E27FC236}">
                <a16:creationId xmlns:a16="http://schemas.microsoft.com/office/drawing/2014/main" id="{BBD91630-4DBA-4294-8016-FEB5C3B0C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7" name="Isosceles Triangle 36">
            <a:extLst>
              <a:ext uri="{FF2B5EF4-FFF2-40B4-BE49-F238E27FC236}">
                <a16:creationId xmlns:a16="http://schemas.microsoft.com/office/drawing/2014/main" id="{E67D1587-504D-41BC-9D48-B61257BFB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extBox 1">
            <a:extLst>
              <a:ext uri="{FF2B5EF4-FFF2-40B4-BE49-F238E27FC236}">
                <a16:creationId xmlns:a16="http://schemas.microsoft.com/office/drawing/2014/main" id="{82BBD515-94AC-6FD3-C09A-909BDB39233E}"/>
              </a:ext>
            </a:extLst>
          </p:cNvPr>
          <p:cNvSpPr txBox="1"/>
          <p:nvPr/>
        </p:nvSpPr>
        <p:spPr>
          <a:xfrm>
            <a:off x="4009435" y="1544193"/>
            <a:ext cx="5589538" cy="2582043"/>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r">
              <a:lnSpc>
                <a:spcPct val="90000"/>
              </a:lnSpc>
              <a:spcBef>
                <a:spcPct val="0"/>
              </a:spcBef>
              <a:spcAft>
                <a:spcPts val="600"/>
              </a:spcAft>
            </a:pPr>
            <a:r>
              <a:rPr lang="en-US" sz="4600" dirty="0">
                <a:solidFill>
                  <a:schemeClr val="accent1"/>
                </a:solidFill>
                <a:latin typeface="+mj-lt"/>
                <a:ea typeface="+mj-ea"/>
                <a:cs typeface="+mj-cs"/>
              </a:rPr>
              <a:t>Securing Data with Blockchain and Ai</a:t>
            </a:r>
            <a:endParaRPr lang="en-US" dirty="0">
              <a:solidFill>
                <a:schemeClr val="accent1"/>
              </a:solidFill>
              <a:latin typeface="+mj-lt"/>
              <a:ea typeface="+mj-ea"/>
              <a:cs typeface="+mj-cs"/>
            </a:endParaRPr>
          </a:p>
        </p:txBody>
      </p:sp>
      <p:sp>
        <p:nvSpPr>
          <p:cNvPr id="39" name="Rectangle 27">
            <a:extLst>
              <a:ext uri="{FF2B5EF4-FFF2-40B4-BE49-F238E27FC236}">
                <a16:creationId xmlns:a16="http://schemas.microsoft.com/office/drawing/2014/main" id="{8765DD1A-F044-4DE7-8A9B-7C30DC85A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41" name="Rectangle 28">
            <a:extLst>
              <a:ext uri="{FF2B5EF4-FFF2-40B4-BE49-F238E27FC236}">
                <a16:creationId xmlns:a16="http://schemas.microsoft.com/office/drawing/2014/main" id="{2FE2170D-72D6-48A8-8E9A-BFF3BF03D0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3" name="Rectangle 29">
            <a:extLst>
              <a:ext uri="{FF2B5EF4-FFF2-40B4-BE49-F238E27FC236}">
                <a16:creationId xmlns:a16="http://schemas.microsoft.com/office/drawing/2014/main" id="{01D19436-094D-463D-AFEA-870FDBD03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45" name="Isosceles Triangle 44">
            <a:extLst>
              <a:ext uri="{FF2B5EF4-FFF2-40B4-BE49-F238E27FC236}">
                <a16:creationId xmlns:a16="http://schemas.microsoft.com/office/drawing/2014/main" id="{9A2DE6E0-967C-4C58-8558-EC08F1138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77416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4" name="Group 73">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5" name="Straight Connector 14">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7"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75" name="Rectangle 74">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6" name="Rectangle 75">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Connector 76">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79"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0"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1" name="Isosceles Triangle 80">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8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3" name="Isosceles Triangle 82">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4" name="Freeform: Shape 83">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Box 8">
            <a:extLst>
              <a:ext uri="{FF2B5EF4-FFF2-40B4-BE49-F238E27FC236}">
                <a16:creationId xmlns:a16="http://schemas.microsoft.com/office/drawing/2014/main" id="{1B8F0066-AEF2-B458-C7DD-8C4303A11D0A}"/>
              </a:ext>
            </a:extLst>
          </p:cNvPr>
          <p:cNvSpPr txBox="1"/>
          <p:nvPr/>
        </p:nvSpPr>
        <p:spPr>
          <a:xfrm>
            <a:off x="677334" y="609599"/>
            <a:ext cx="3843375" cy="5545667"/>
          </a:xfrm>
          <a:prstGeom prst="rect">
            <a:avLst/>
          </a:prstGeom>
        </p:spPr>
        <p:txBody>
          <a:bodyPr vert="horz" lIns="91440" tIns="45720" rIns="91440" bIns="45720" rtlCol="0" anchor="ctr">
            <a:normAutofit/>
          </a:bodyPr>
          <a:lstStyle/>
          <a:p>
            <a:pPr>
              <a:spcBef>
                <a:spcPct val="0"/>
              </a:spcBef>
              <a:spcAft>
                <a:spcPts val="600"/>
              </a:spcAft>
            </a:pPr>
            <a:r>
              <a:rPr lang="en-US" sz="3600">
                <a:solidFill>
                  <a:schemeClr val="tx1">
                    <a:lumMod val="85000"/>
                    <a:lumOff val="15000"/>
                  </a:schemeClr>
                </a:solidFill>
                <a:latin typeface="+mj-lt"/>
                <a:ea typeface="+mj-ea"/>
                <a:cs typeface="+mj-cs"/>
              </a:rPr>
              <a:t>  INDEX </a:t>
            </a:r>
          </a:p>
        </p:txBody>
      </p:sp>
      <p:sp>
        <p:nvSpPr>
          <p:cNvPr id="8" name="TextBox 7">
            <a:extLst>
              <a:ext uri="{FF2B5EF4-FFF2-40B4-BE49-F238E27FC236}">
                <a16:creationId xmlns:a16="http://schemas.microsoft.com/office/drawing/2014/main" id="{7903930E-396E-76FE-41EC-824406EC7C54}"/>
              </a:ext>
            </a:extLst>
          </p:cNvPr>
          <p:cNvSpPr txBox="1"/>
          <p:nvPr/>
        </p:nvSpPr>
        <p:spPr>
          <a:xfrm>
            <a:off x="6116084" y="609600"/>
            <a:ext cx="5511296" cy="5545667"/>
          </a:xfrm>
          <a:prstGeom prst="rect">
            <a:avLst/>
          </a:prstGeom>
        </p:spPr>
        <p:txBody>
          <a:bodyPr vert="horz" lIns="91440" tIns="45720" rIns="91440" bIns="45720" rtlCol="0" anchor="ctr">
            <a:normAutofit fontScale="92500"/>
          </a:bodyPr>
          <a:lstStyle/>
          <a:p>
            <a:pPr marL="342900" indent="-342900">
              <a:spcBef>
                <a:spcPts val="1000"/>
              </a:spcBef>
              <a:buClr>
                <a:schemeClr val="accent1"/>
              </a:buClr>
              <a:buSzPct val="80000"/>
              <a:buFont typeface="Wingdings" charset="2"/>
              <a:buChar char="q"/>
            </a:pPr>
            <a:r>
              <a:rPr lang="en-US" sz="2400" dirty="0">
                <a:solidFill>
                  <a:srgbClr val="FFFFFF"/>
                </a:solidFill>
              </a:rPr>
              <a:t>Abstraction </a:t>
            </a:r>
            <a:endParaRPr lang="en-US" sz="2400">
              <a:solidFill>
                <a:srgbClr val="FFFFFF"/>
              </a:solidFill>
            </a:endParaRPr>
          </a:p>
          <a:p>
            <a:pPr marL="342900" indent="-342900">
              <a:spcBef>
                <a:spcPts val="1000"/>
              </a:spcBef>
              <a:buClr>
                <a:schemeClr val="accent1"/>
              </a:buClr>
              <a:buSzPct val="80000"/>
              <a:buFont typeface="Wingdings" charset="2"/>
              <a:buChar char="q"/>
            </a:pPr>
            <a:r>
              <a:rPr lang="en-US" sz="2400" dirty="0">
                <a:solidFill>
                  <a:srgbClr val="FFFFFF"/>
                </a:solidFill>
              </a:rPr>
              <a:t>Introduction</a:t>
            </a:r>
            <a:endParaRPr lang="en-US" sz="2100" dirty="0">
              <a:solidFill>
                <a:srgbClr val="FFFFFF"/>
              </a:solidFill>
            </a:endParaRPr>
          </a:p>
          <a:p>
            <a:pPr marL="342900" indent="-342900">
              <a:spcBef>
                <a:spcPts val="1000"/>
              </a:spcBef>
              <a:buClr>
                <a:schemeClr val="accent1"/>
              </a:buClr>
              <a:buSzPct val="80000"/>
              <a:buFont typeface="Wingdings" charset="2"/>
              <a:buChar char="q"/>
            </a:pPr>
            <a:r>
              <a:rPr lang="en-US" sz="2100" b="1" u="sng" dirty="0">
                <a:solidFill>
                  <a:srgbClr val="FFFFFF"/>
                </a:solidFill>
              </a:rPr>
              <a:t>Literature Survey</a:t>
            </a:r>
            <a:endParaRPr lang="en-US" sz="2100" dirty="0">
              <a:solidFill>
                <a:srgbClr val="FFFFFF"/>
              </a:solidFill>
            </a:endParaRPr>
          </a:p>
          <a:p>
            <a:pPr marL="342900" indent="-342900">
              <a:spcBef>
                <a:spcPts val="1000"/>
              </a:spcBef>
              <a:buClr>
                <a:schemeClr val="accent1"/>
              </a:buClr>
              <a:buSzPct val="80000"/>
              <a:buFont typeface="Wingdings" charset="2"/>
              <a:buChar char="q"/>
            </a:pPr>
            <a:r>
              <a:rPr lang="en-US" sz="2400" dirty="0">
                <a:solidFill>
                  <a:srgbClr val="FFFFFF"/>
                </a:solidFill>
              </a:rPr>
              <a:t>Existing System </a:t>
            </a:r>
          </a:p>
          <a:p>
            <a:pPr marL="342900" indent="-342900">
              <a:spcBef>
                <a:spcPts val="1000"/>
              </a:spcBef>
              <a:buClr>
                <a:schemeClr val="accent1"/>
              </a:buClr>
              <a:buSzPct val="80000"/>
              <a:buFont typeface="Wingdings" charset="2"/>
              <a:buChar char="q"/>
            </a:pPr>
            <a:r>
              <a:rPr lang="en-US" sz="2400" dirty="0">
                <a:solidFill>
                  <a:srgbClr val="FFFFFF"/>
                </a:solidFill>
              </a:rPr>
              <a:t>Proposed system</a:t>
            </a:r>
          </a:p>
          <a:p>
            <a:pPr marL="342900" indent="-342900">
              <a:spcBef>
                <a:spcPts val="1000"/>
              </a:spcBef>
              <a:buClr>
                <a:schemeClr val="accent1"/>
              </a:buClr>
              <a:buSzPct val="80000"/>
              <a:buFont typeface="Wingdings"/>
              <a:buChar char="q"/>
            </a:pPr>
            <a:r>
              <a:rPr lang="en-US" sz="2400" dirty="0">
                <a:solidFill>
                  <a:srgbClr val="FFFFFF"/>
                </a:solidFill>
              </a:rPr>
              <a:t>Software and Hardware Requirements </a:t>
            </a:r>
          </a:p>
          <a:p>
            <a:pPr marL="342900" indent="-342900">
              <a:spcBef>
                <a:spcPts val="1000"/>
              </a:spcBef>
              <a:buClr>
                <a:schemeClr val="accent1"/>
              </a:buClr>
              <a:buSzPct val="80000"/>
              <a:buFont typeface="Wingdings" charset="2"/>
              <a:buChar char="q"/>
            </a:pPr>
            <a:r>
              <a:rPr lang="en-US" sz="2400" dirty="0">
                <a:solidFill>
                  <a:srgbClr val="FFFFFF"/>
                </a:solidFill>
              </a:rPr>
              <a:t>Justification of Platform</a:t>
            </a:r>
          </a:p>
          <a:p>
            <a:pPr marL="342900" indent="-342900">
              <a:spcBef>
                <a:spcPts val="1000"/>
              </a:spcBef>
              <a:buClr>
                <a:schemeClr val="accent1"/>
              </a:buClr>
              <a:buSzPct val="80000"/>
              <a:buFont typeface="Wingdings" charset="2"/>
              <a:buChar char="q"/>
            </a:pPr>
            <a:r>
              <a:rPr lang="en-US" sz="2400" dirty="0">
                <a:solidFill>
                  <a:srgbClr val="FFFFFF"/>
                </a:solidFill>
              </a:rPr>
              <a:t>Pow algorithm</a:t>
            </a:r>
          </a:p>
          <a:p>
            <a:pPr marL="342900" indent="-342900">
              <a:spcBef>
                <a:spcPts val="1000"/>
              </a:spcBef>
              <a:buClr>
                <a:schemeClr val="accent1"/>
              </a:buClr>
              <a:buSzPct val="80000"/>
              <a:buFont typeface="Wingdings" charset="2"/>
              <a:buChar char="q"/>
            </a:pPr>
            <a:r>
              <a:rPr lang="en-US" sz="2400" dirty="0">
                <a:solidFill>
                  <a:srgbClr val="FFFFFF"/>
                </a:solidFill>
              </a:rPr>
              <a:t>Er-diagram representation.</a:t>
            </a:r>
          </a:p>
          <a:p>
            <a:pPr marL="342900" indent="-342900">
              <a:spcBef>
                <a:spcPts val="1000"/>
              </a:spcBef>
              <a:buClr>
                <a:schemeClr val="accent1"/>
              </a:buClr>
              <a:buSzPct val="80000"/>
              <a:buFont typeface="Wingdings" charset="2"/>
              <a:buChar char="q"/>
            </a:pPr>
            <a:r>
              <a:rPr lang="en-US" sz="2400" dirty="0">
                <a:solidFill>
                  <a:srgbClr val="FFFFFF"/>
                </a:solidFill>
              </a:rPr>
              <a:t>Experimental Results </a:t>
            </a:r>
          </a:p>
          <a:p>
            <a:pPr marL="342900" indent="-342900">
              <a:spcBef>
                <a:spcPts val="1000"/>
              </a:spcBef>
              <a:buClr>
                <a:schemeClr val="accent1"/>
              </a:buClr>
              <a:buSzPct val="80000"/>
              <a:buFont typeface="Wingdings" charset="2"/>
              <a:buChar char="q"/>
            </a:pPr>
            <a:r>
              <a:rPr lang="en-US" sz="2400" dirty="0">
                <a:solidFill>
                  <a:srgbClr val="FFFFFF"/>
                </a:solidFill>
              </a:rPr>
              <a:t>Conclusion </a:t>
            </a:r>
          </a:p>
          <a:p>
            <a:pPr marL="342900" indent="-342900">
              <a:spcBef>
                <a:spcPts val="1000"/>
              </a:spcBef>
              <a:buClr>
                <a:schemeClr val="accent1"/>
              </a:buClr>
              <a:buSzPct val="80000"/>
              <a:buFont typeface="Wingdings" charset="2"/>
              <a:buChar char="q"/>
            </a:pPr>
            <a:r>
              <a:rPr lang="en-US" sz="2400" dirty="0">
                <a:solidFill>
                  <a:srgbClr val="FFFFFF"/>
                </a:solidFill>
              </a:rPr>
              <a:t>References</a:t>
            </a:r>
          </a:p>
        </p:txBody>
      </p:sp>
    </p:spTree>
    <p:extLst>
      <p:ext uri="{BB962C8B-B14F-4D97-AF65-F5344CB8AC3E}">
        <p14:creationId xmlns:p14="http://schemas.microsoft.com/office/powerpoint/2010/main" val="1534676951"/>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2" name="Group 61">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 name="Straight Connector 7">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Isosceles Triangle 11">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Isosceles Triangle 15">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63" name="Rectangle 62">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4" name="Group 63">
            <a:extLst>
              <a:ext uri="{FF2B5EF4-FFF2-40B4-BE49-F238E27FC236}">
                <a16:creationId xmlns:a16="http://schemas.microsoft.com/office/drawing/2014/main" id="{648049AD-9827-49E8-8BF5-32E175C8E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2" name="Straight Connector 21">
              <a:extLst>
                <a:ext uri="{FF2B5EF4-FFF2-40B4-BE49-F238E27FC236}">
                  <a16:creationId xmlns:a16="http://schemas.microsoft.com/office/drawing/2014/main" id="{3AA99CFD-13BA-4D43-8274-E720ACDBED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946D58D6-64B0-4752-8159-24114F47A5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C16801F7-F15E-4355-8767-26487BA8B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66" name="Rectangle 25">
              <a:extLst>
                <a:ext uri="{FF2B5EF4-FFF2-40B4-BE49-F238E27FC236}">
                  <a16:creationId xmlns:a16="http://schemas.microsoft.com/office/drawing/2014/main" id="{14FF0578-E224-4225-8396-B99D4881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Isosceles Triangle 25">
              <a:extLst>
                <a:ext uri="{FF2B5EF4-FFF2-40B4-BE49-F238E27FC236}">
                  <a16:creationId xmlns:a16="http://schemas.microsoft.com/office/drawing/2014/main" id="{4642C0E0-9644-41F1-8CF3-33779AA8A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67" name="Rectangle 27">
              <a:extLst>
                <a:ext uri="{FF2B5EF4-FFF2-40B4-BE49-F238E27FC236}">
                  <a16:creationId xmlns:a16="http://schemas.microsoft.com/office/drawing/2014/main" id="{5F77D9D3-628A-4607-B307-91AAA5603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8">
              <a:extLst>
                <a:ext uri="{FF2B5EF4-FFF2-40B4-BE49-F238E27FC236}">
                  <a16:creationId xmlns:a16="http://schemas.microsoft.com/office/drawing/2014/main" id="{0600759E-C22E-4F3D-8569-0DE8F1D4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8" name="Rectangle 29">
              <a:extLst>
                <a:ext uri="{FF2B5EF4-FFF2-40B4-BE49-F238E27FC236}">
                  <a16:creationId xmlns:a16="http://schemas.microsoft.com/office/drawing/2014/main" id="{9A4E951D-EAB0-4F6B-84AE-B5B25684F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Isosceles Triangle 29">
              <a:extLst>
                <a:ext uri="{FF2B5EF4-FFF2-40B4-BE49-F238E27FC236}">
                  <a16:creationId xmlns:a16="http://schemas.microsoft.com/office/drawing/2014/main" id="{B953BEA8-1B45-419E-BACD-49DB8888B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69" name="Isosceles Triangle 68">
              <a:extLst>
                <a:ext uri="{FF2B5EF4-FFF2-40B4-BE49-F238E27FC236}">
                  <a16:creationId xmlns:a16="http://schemas.microsoft.com/office/drawing/2014/main" id="{72B7FA08-1FF3-4AED-B4E9-587D81D6B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extBox 1">
            <a:extLst>
              <a:ext uri="{FF2B5EF4-FFF2-40B4-BE49-F238E27FC236}">
                <a16:creationId xmlns:a16="http://schemas.microsoft.com/office/drawing/2014/main" id="{5AB833EA-1D1A-7C9C-7247-E738ED66468B}"/>
              </a:ext>
            </a:extLst>
          </p:cNvPr>
          <p:cNvSpPr txBox="1"/>
          <p:nvPr/>
        </p:nvSpPr>
        <p:spPr>
          <a:xfrm>
            <a:off x="419599" y="602971"/>
            <a:ext cx="8809579" cy="5259096"/>
          </a:xfrm>
          <a:prstGeom prst="rect">
            <a:avLst/>
          </a:prstGeom>
        </p:spPr>
        <p:txBody>
          <a:bodyPr vert="horz" lIns="91440" tIns="45720" rIns="91440" bIns="45720" rtlCol="0" anchor="t">
            <a:normAutofit/>
          </a:bodyPr>
          <a:lstStyle/>
          <a:p>
            <a:pPr>
              <a:lnSpc>
                <a:spcPct val="90000"/>
              </a:lnSpc>
              <a:spcBef>
                <a:spcPts val="1000"/>
              </a:spcBef>
              <a:buClr>
                <a:schemeClr val="accent1"/>
              </a:buClr>
              <a:buSzPct val="80000"/>
            </a:pPr>
            <a:r>
              <a:rPr lang="en-US" sz="1500" dirty="0">
                <a:solidFill>
                  <a:schemeClr val="tx1">
                    <a:lumMod val="75000"/>
                    <a:lumOff val="25000"/>
                  </a:schemeClr>
                </a:solidFill>
              </a:rPr>
              <a:t>  </a:t>
            </a:r>
            <a:r>
              <a:rPr lang="en-US" sz="2800" b="1" u="sng" dirty="0"/>
              <a:t>Abstract:</a:t>
            </a:r>
            <a:endParaRPr lang="en-US" sz="2800" dirty="0"/>
          </a:p>
          <a:p>
            <a:pPr marL="342900" indent="-342900">
              <a:lnSpc>
                <a:spcPct val="90000"/>
              </a:lnSpc>
              <a:spcBef>
                <a:spcPts val="1000"/>
              </a:spcBef>
              <a:buClr>
                <a:schemeClr val="accent1"/>
              </a:buClr>
              <a:buSzPct val="80000"/>
              <a:buFont typeface="Wingdings" charset="2"/>
              <a:buChar char="Ø"/>
            </a:pPr>
            <a:r>
              <a:rPr lang="en-US" sz="2400" b="1" dirty="0"/>
              <a:t>Problem:</a:t>
            </a:r>
            <a:r>
              <a:rPr lang="en-US" sz="2000" dirty="0">
                <a:solidFill>
                  <a:schemeClr val="accent1"/>
                </a:solidFill>
              </a:rPr>
              <a:t> Data is fragmented across the internet, controlled by different parties who distrust each other. Authorizing and validating data usage is difficult, hindering the creation of "real big data" and powerful AI.</a:t>
            </a:r>
          </a:p>
          <a:p>
            <a:pPr marL="342900" indent="-342900">
              <a:lnSpc>
                <a:spcPct val="90000"/>
              </a:lnSpc>
              <a:spcBef>
                <a:spcPts val="1000"/>
              </a:spcBef>
              <a:buClr>
                <a:schemeClr val="accent1"/>
              </a:buClr>
              <a:buSzPct val="80000"/>
              <a:buFont typeface="Wingdings" charset="2"/>
              <a:buChar char="Ø"/>
            </a:pPr>
            <a:r>
              <a:rPr lang="en-US" sz="2400" b="1" dirty="0"/>
              <a:t>Solution:</a:t>
            </a:r>
            <a:r>
              <a:rPr lang="en-US" sz="2400" dirty="0"/>
              <a:t> </a:t>
            </a:r>
            <a:r>
              <a:rPr lang="en-US" sz="2000" dirty="0">
                <a:solidFill>
                  <a:schemeClr val="accent1"/>
                </a:solidFill>
              </a:rPr>
              <a:t>An architecture for secure data storage, computing, and sharing.</a:t>
            </a:r>
            <a:endParaRPr lang="en-US" sz="2400" dirty="0">
              <a:solidFill>
                <a:schemeClr val="accent1"/>
              </a:solidFill>
            </a:endParaRPr>
          </a:p>
          <a:p>
            <a:pPr marL="342900" indent="-342900">
              <a:lnSpc>
                <a:spcPct val="90000"/>
              </a:lnSpc>
              <a:spcBef>
                <a:spcPts val="1000"/>
              </a:spcBef>
              <a:buClr>
                <a:schemeClr val="accent1"/>
              </a:buClr>
              <a:buSzPct val="80000"/>
              <a:buFont typeface="Wingdings" charset="2"/>
              <a:buChar char="Ø"/>
            </a:pPr>
            <a:endParaRPr lang="en-US" sz="2000" dirty="0">
              <a:solidFill>
                <a:schemeClr val="accent1"/>
              </a:solidFill>
            </a:endParaRPr>
          </a:p>
          <a:p>
            <a:pPr marL="342900" indent="-342900">
              <a:lnSpc>
                <a:spcPct val="90000"/>
              </a:lnSpc>
              <a:spcBef>
                <a:spcPts val="1000"/>
              </a:spcBef>
              <a:buClr>
                <a:schemeClr val="accent1"/>
              </a:buClr>
              <a:buSzPct val="80000"/>
              <a:buFont typeface="Wingdings" charset="2"/>
              <a:buChar char="Ø"/>
            </a:pPr>
            <a:r>
              <a:rPr lang="en-US" sz="2400" b="1" u="sng" dirty="0" err="1"/>
              <a:t>SecNet</a:t>
            </a:r>
            <a:r>
              <a:rPr lang="en-US" sz="2400" b="1" u="sng" dirty="0"/>
              <a:t> Components:</a:t>
            </a:r>
            <a:endParaRPr lang="en-US" sz="2400" u="sng"/>
          </a:p>
          <a:p>
            <a:pPr marL="285750" indent="-285750">
              <a:lnSpc>
                <a:spcPct val="90000"/>
              </a:lnSpc>
              <a:spcBef>
                <a:spcPts val="1000"/>
              </a:spcBef>
              <a:buClr>
                <a:schemeClr val="accent1"/>
              </a:buClr>
              <a:buSzPct val="80000"/>
              <a:buFont typeface="Wingdings" charset="2"/>
              <a:buChar char="Ø"/>
            </a:pPr>
            <a:endParaRPr lang="en-US" sz="2400" dirty="0">
              <a:solidFill>
                <a:schemeClr val="accent1"/>
              </a:solidFill>
            </a:endParaRPr>
          </a:p>
          <a:p>
            <a:pPr>
              <a:lnSpc>
                <a:spcPct val="90000"/>
              </a:lnSpc>
              <a:spcBef>
                <a:spcPts val="1000"/>
              </a:spcBef>
              <a:buClr>
                <a:schemeClr val="accent1"/>
              </a:buClr>
              <a:buSzPct val="80000"/>
              <a:buFont typeface="Wingdings" charset="2"/>
              <a:buChar char="Ø"/>
            </a:pPr>
            <a:endParaRPr lang="en-US" sz="1500" b="1">
              <a:solidFill>
                <a:schemeClr val="tx1">
                  <a:lumMod val="75000"/>
                  <a:lumOff val="25000"/>
                </a:schemeClr>
              </a:solidFill>
            </a:endParaRPr>
          </a:p>
          <a:p>
            <a:pPr marL="285750" indent="-285750">
              <a:lnSpc>
                <a:spcPct val="90000"/>
              </a:lnSpc>
              <a:spcBef>
                <a:spcPts val="1000"/>
              </a:spcBef>
              <a:buClr>
                <a:schemeClr val="accent1"/>
              </a:buClr>
              <a:buSzPct val="80000"/>
              <a:buFont typeface="Wingdings" charset="2"/>
              <a:buChar char="Ø"/>
            </a:pPr>
            <a:endParaRPr lang="en-US" sz="1500">
              <a:solidFill>
                <a:schemeClr val="tx1">
                  <a:lumMod val="75000"/>
                  <a:lumOff val="25000"/>
                </a:schemeClr>
              </a:solidFill>
            </a:endParaRPr>
          </a:p>
        </p:txBody>
      </p:sp>
      <p:graphicFrame>
        <p:nvGraphicFramePr>
          <p:cNvPr id="71" name="TextBox 2">
            <a:extLst>
              <a:ext uri="{FF2B5EF4-FFF2-40B4-BE49-F238E27FC236}">
                <a16:creationId xmlns:a16="http://schemas.microsoft.com/office/drawing/2014/main" id="{E72FCCC4-E248-80A4-E2B4-2948F1C6375B}"/>
              </a:ext>
            </a:extLst>
          </p:cNvPr>
          <p:cNvGraphicFramePr/>
          <p:nvPr>
            <p:extLst>
              <p:ext uri="{D42A27DB-BD31-4B8C-83A1-F6EECF244321}">
                <p14:modId xmlns:p14="http://schemas.microsoft.com/office/powerpoint/2010/main" val="2378371401"/>
              </p:ext>
            </p:extLst>
          </p:nvPr>
        </p:nvGraphicFramePr>
        <p:xfrm>
          <a:off x="417419" y="3426198"/>
          <a:ext cx="8895229" cy="2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2477425"/>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47" name="Group 46">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Isosceles Triangle 15">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48" name="Rectangle 4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648049AD-9827-49E8-8BF5-32E175C8E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6" name="Straight Connector 25">
              <a:extLst>
                <a:ext uri="{FF2B5EF4-FFF2-40B4-BE49-F238E27FC236}">
                  <a16:creationId xmlns:a16="http://schemas.microsoft.com/office/drawing/2014/main" id="{3AA99CFD-13BA-4D43-8274-E720ACDBED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946D58D6-64B0-4752-8159-24114F47A5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8" name="Rectangle 23">
              <a:extLst>
                <a:ext uri="{FF2B5EF4-FFF2-40B4-BE49-F238E27FC236}">
                  <a16:creationId xmlns:a16="http://schemas.microsoft.com/office/drawing/2014/main" id="{C16801F7-F15E-4355-8767-26487BA8B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51" name="Rectangle 25">
              <a:extLst>
                <a:ext uri="{FF2B5EF4-FFF2-40B4-BE49-F238E27FC236}">
                  <a16:creationId xmlns:a16="http://schemas.microsoft.com/office/drawing/2014/main" id="{14FF0578-E224-4225-8396-B99D4881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Isosceles Triangle 29">
              <a:extLst>
                <a:ext uri="{FF2B5EF4-FFF2-40B4-BE49-F238E27FC236}">
                  <a16:creationId xmlns:a16="http://schemas.microsoft.com/office/drawing/2014/main" id="{4642C0E0-9644-41F1-8CF3-33779AA8A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52" name="Rectangle 27">
              <a:extLst>
                <a:ext uri="{FF2B5EF4-FFF2-40B4-BE49-F238E27FC236}">
                  <a16:creationId xmlns:a16="http://schemas.microsoft.com/office/drawing/2014/main" id="{5F77D9D3-628A-4607-B307-91AAA5603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53" name="Rectangle 28">
              <a:extLst>
                <a:ext uri="{FF2B5EF4-FFF2-40B4-BE49-F238E27FC236}">
                  <a16:creationId xmlns:a16="http://schemas.microsoft.com/office/drawing/2014/main" id="{0600759E-C22E-4F3D-8569-0DE8F1D4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54" name="Rectangle 29">
              <a:extLst>
                <a:ext uri="{FF2B5EF4-FFF2-40B4-BE49-F238E27FC236}">
                  <a16:creationId xmlns:a16="http://schemas.microsoft.com/office/drawing/2014/main" id="{9A4E951D-EAB0-4F6B-84AE-B5B25684F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55" name="Isosceles Triangle 54">
              <a:extLst>
                <a:ext uri="{FF2B5EF4-FFF2-40B4-BE49-F238E27FC236}">
                  <a16:creationId xmlns:a16="http://schemas.microsoft.com/office/drawing/2014/main" id="{B953BEA8-1B45-419E-BACD-49DB8888B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56" name="Isosceles Triangle 55">
              <a:extLst>
                <a:ext uri="{FF2B5EF4-FFF2-40B4-BE49-F238E27FC236}">
                  <a16:creationId xmlns:a16="http://schemas.microsoft.com/office/drawing/2014/main" id="{72B7FA08-1FF3-4AED-B4E9-587D81D6B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6" name="TextBox 5">
            <a:extLst>
              <a:ext uri="{FF2B5EF4-FFF2-40B4-BE49-F238E27FC236}">
                <a16:creationId xmlns:a16="http://schemas.microsoft.com/office/drawing/2014/main" id="{1E19633A-4F84-9E31-1103-71AFC1769637}"/>
              </a:ext>
            </a:extLst>
          </p:cNvPr>
          <p:cNvSpPr txBox="1"/>
          <p:nvPr/>
        </p:nvSpPr>
        <p:spPr>
          <a:xfrm>
            <a:off x="475629" y="591765"/>
            <a:ext cx="9661226" cy="6110742"/>
          </a:xfrm>
          <a:prstGeom prst="rect">
            <a:avLst/>
          </a:prstGeom>
        </p:spPr>
        <p:txBody>
          <a:bodyPr vert="horz" lIns="91440" tIns="45720" rIns="91440" bIns="45720" rtlCol="0" anchor="t">
            <a:normAutofit/>
          </a:bodyPr>
          <a:lstStyle/>
          <a:p>
            <a:pPr>
              <a:lnSpc>
                <a:spcPct val="90000"/>
              </a:lnSpc>
              <a:spcBef>
                <a:spcPts val="1000"/>
              </a:spcBef>
              <a:buClr>
                <a:schemeClr val="accent1"/>
              </a:buClr>
              <a:buSzPct val="80000"/>
            </a:pPr>
            <a:r>
              <a:rPr lang="en-US" sz="2800" b="1" u="sng" dirty="0"/>
              <a:t>Introduction:</a:t>
            </a:r>
            <a:endParaRPr lang="en-US" sz="2800" dirty="0"/>
          </a:p>
          <a:p>
            <a:pPr marL="342900" indent="-342900">
              <a:buClr>
                <a:schemeClr val="accent1"/>
              </a:buClr>
              <a:buSzPct val="80000"/>
              <a:buFont typeface="Wingdings"/>
              <a:buChar char="Ø"/>
            </a:pPr>
            <a:r>
              <a:rPr lang="en-US" sz="2400" b="1" dirty="0">
                <a:ea typeface="+mn-lt"/>
                <a:cs typeface="+mn-lt"/>
              </a:rPr>
              <a:t>Data Importance and Security Concerns:</a:t>
            </a:r>
            <a:r>
              <a:rPr lang="en-US" sz="2400" dirty="0">
                <a:solidFill>
                  <a:schemeClr val="accent1"/>
                </a:solidFill>
                <a:ea typeface="+mn-lt"/>
                <a:cs typeface="+mn-lt"/>
              </a:rPr>
              <a:t> </a:t>
            </a:r>
            <a:r>
              <a:rPr lang="en-US" sz="2000" dirty="0">
                <a:solidFill>
                  <a:schemeClr val="accent1"/>
                </a:solidFill>
                <a:ea typeface="+mn-lt"/>
                <a:cs typeface="+mn-lt"/>
              </a:rPr>
              <a:t>Data is crucial in the cyber world, but not all data can be public. Sensitive data like patient health information needs protection. Additionally, users often lack control over their data stored by service providers.</a:t>
            </a:r>
            <a:endParaRPr lang="en-US" sz="2000">
              <a:solidFill>
                <a:schemeClr val="accent1"/>
              </a:solidFill>
              <a:latin typeface="Trebuchet MS"/>
              <a:cs typeface="Times New Roman"/>
            </a:endParaRPr>
          </a:p>
          <a:p>
            <a:pPr marL="342900" indent="-342900">
              <a:buFont typeface="Wingdings" charset="2"/>
              <a:buChar char="Ø"/>
            </a:pPr>
            <a:r>
              <a:rPr lang="en-US" sz="2400" b="1" dirty="0">
                <a:ea typeface="+mn-lt"/>
                <a:cs typeface="+mn-lt"/>
              </a:rPr>
              <a:t>Proposed Solution: </a:t>
            </a:r>
            <a:r>
              <a:rPr lang="en-US" sz="2000" b="1" dirty="0">
                <a:solidFill>
                  <a:schemeClr val="accent1"/>
                </a:solidFill>
                <a:ea typeface="+mn-lt"/>
                <a:cs typeface="+mn-lt"/>
              </a:rPr>
              <a:t>Private Data Centers (PDC) with Blockchain and AI:</a:t>
            </a:r>
            <a:r>
              <a:rPr lang="en-US" sz="2000" dirty="0">
                <a:solidFill>
                  <a:schemeClr val="accent1"/>
                </a:solidFill>
                <a:ea typeface="+mn-lt"/>
                <a:cs typeface="+mn-lt"/>
              </a:rPr>
              <a:t> This approach aims to secure user data. It uses three techniques:</a:t>
            </a:r>
            <a:endParaRPr lang="en-US" sz="2000">
              <a:solidFill>
                <a:schemeClr val="accent1"/>
              </a:solidFill>
            </a:endParaRPr>
          </a:p>
          <a:p>
            <a:pPr marL="342900" indent="-342900">
              <a:buFont typeface="Wingdings" charset="2"/>
              <a:buChar char="Ø"/>
            </a:pPr>
            <a:endParaRPr lang="en-US" sz="2400" dirty="0">
              <a:solidFill>
                <a:schemeClr val="accent1"/>
              </a:solidFill>
              <a:ea typeface="+mn-lt"/>
              <a:cs typeface="+mn-lt"/>
            </a:endParaRPr>
          </a:p>
          <a:p>
            <a:pPr marL="342900" indent="-342900">
              <a:buFont typeface="Wingdings" charset="2"/>
              <a:buChar char="Ø"/>
            </a:pPr>
            <a:endParaRPr lang="en-US" sz="2400" dirty="0">
              <a:solidFill>
                <a:schemeClr val="accent1"/>
              </a:solidFill>
              <a:ea typeface="+mn-lt"/>
              <a:cs typeface="+mn-lt"/>
            </a:endParaRPr>
          </a:p>
          <a:p>
            <a:pPr marL="342900" indent="-342900">
              <a:buFont typeface="Wingdings" charset="2"/>
              <a:buChar char="Ø"/>
            </a:pPr>
            <a:endParaRPr lang="en-US" sz="2400" dirty="0">
              <a:solidFill>
                <a:schemeClr val="accent1"/>
              </a:solidFill>
              <a:ea typeface="+mn-lt"/>
              <a:cs typeface="+mn-lt"/>
            </a:endParaRPr>
          </a:p>
          <a:p>
            <a:pPr marL="342900" indent="-342900">
              <a:buFont typeface="Wingdings" charset="2"/>
              <a:buChar char="Ø"/>
            </a:pPr>
            <a:endParaRPr lang="en-US" sz="2400" dirty="0">
              <a:solidFill>
                <a:schemeClr val="accent1"/>
              </a:solidFill>
              <a:ea typeface="+mn-lt"/>
              <a:cs typeface="+mn-lt"/>
            </a:endParaRPr>
          </a:p>
          <a:p>
            <a:pPr marL="342900" indent="-342900">
              <a:buFont typeface="Wingdings" charset="2"/>
              <a:buChar char="Ø"/>
            </a:pPr>
            <a:endParaRPr lang="en-US" sz="2400" dirty="0">
              <a:solidFill>
                <a:schemeClr val="accent1"/>
              </a:solidFill>
              <a:ea typeface="+mn-lt"/>
              <a:cs typeface="+mn-lt"/>
            </a:endParaRPr>
          </a:p>
          <a:p>
            <a:pPr marL="342900" indent="-342900">
              <a:buFont typeface="Wingdings" charset="2"/>
              <a:buChar char="Ø"/>
            </a:pPr>
            <a:endParaRPr lang="en-US" sz="2000" dirty="0">
              <a:solidFill>
                <a:schemeClr val="accent1"/>
              </a:solidFill>
              <a:ea typeface="+mn-lt"/>
              <a:cs typeface="+mn-lt"/>
            </a:endParaRPr>
          </a:p>
          <a:p>
            <a:pPr marL="342900" indent="-342900">
              <a:buFont typeface="Wingdings"/>
              <a:buChar char="Ø"/>
            </a:pPr>
            <a:endParaRPr lang="en-US" sz="2000" dirty="0">
              <a:ea typeface="+mn-lt"/>
              <a:cs typeface="+mn-lt"/>
            </a:endParaRPr>
          </a:p>
          <a:p>
            <a:pPr marL="342900" indent="-342900">
              <a:buFont typeface="Wingdings" charset="2"/>
              <a:buChar char="Ø"/>
            </a:pPr>
            <a:r>
              <a:rPr lang="en-US" sz="2400" b="1" dirty="0">
                <a:ea typeface="+mn-lt"/>
                <a:cs typeface="+mn-lt"/>
              </a:rPr>
              <a:t>Project Focus:</a:t>
            </a:r>
            <a:r>
              <a:rPr lang="en-US" sz="2400" dirty="0">
                <a:ea typeface="+mn-lt"/>
                <a:cs typeface="+mn-lt"/>
              </a:rPr>
              <a:t> </a:t>
            </a:r>
            <a:r>
              <a:rPr lang="en-US" sz="2000" dirty="0">
                <a:solidFill>
                  <a:schemeClr val="accent1"/>
                </a:solidFill>
                <a:ea typeface="+mn-lt"/>
                <a:cs typeface="+mn-lt"/>
              </a:rPr>
              <a:t>The project will implement these concepts using medical data sharing as an example.</a:t>
            </a:r>
            <a:endParaRPr lang="en-US" sz="2000" dirty="0">
              <a:solidFill>
                <a:schemeClr val="accent1"/>
              </a:solidFill>
            </a:endParaRPr>
          </a:p>
          <a:p>
            <a:pPr>
              <a:buClr>
                <a:schemeClr val="accent1"/>
              </a:buClr>
              <a:buSzPct val="80000"/>
              <a:buFont typeface="Wingdings" charset="2"/>
              <a:buChar char="Ø"/>
            </a:pPr>
            <a:endParaRPr lang="en-US" sz="2400" dirty="0">
              <a:solidFill>
                <a:schemeClr val="accent1"/>
              </a:solidFill>
              <a:latin typeface="Trebuchet MS"/>
              <a:cs typeface="Times New Roman"/>
            </a:endParaRPr>
          </a:p>
          <a:p>
            <a:pPr marL="285750" indent="-285750">
              <a:lnSpc>
                <a:spcPct val="90000"/>
              </a:lnSpc>
              <a:spcBef>
                <a:spcPts val="1000"/>
              </a:spcBef>
              <a:buClr>
                <a:schemeClr val="accent1"/>
              </a:buClr>
              <a:buSzPct val="80000"/>
              <a:buFont typeface="Wingdings" charset="2"/>
              <a:buChar char="Ø"/>
            </a:pPr>
            <a:endParaRPr lang="en-US" sz="2400">
              <a:solidFill>
                <a:schemeClr val="tx1">
                  <a:lumMod val="75000"/>
                  <a:lumOff val="25000"/>
                </a:schemeClr>
              </a:solidFill>
              <a:latin typeface="Times New Roman"/>
              <a:cs typeface="Times New Roman"/>
            </a:endParaRPr>
          </a:p>
        </p:txBody>
      </p:sp>
      <p:graphicFrame>
        <p:nvGraphicFramePr>
          <p:cNvPr id="59" name="TextBox 1">
            <a:extLst>
              <a:ext uri="{FF2B5EF4-FFF2-40B4-BE49-F238E27FC236}">
                <a16:creationId xmlns:a16="http://schemas.microsoft.com/office/drawing/2014/main" id="{52BC9239-51ED-FDBE-3F9F-A6F3C800DB12}"/>
              </a:ext>
            </a:extLst>
          </p:cNvPr>
          <p:cNvGraphicFramePr/>
          <p:nvPr>
            <p:extLst>
              <p:ext uri="{D42A27DB-BD31-4B8C-83A1-F6EECF244321}">
                <p14:modId xmlns:p14="http://schemas.microsoft.com/office/powerpoint/2010/main" val="1590153409"/>
              </p:ext>
            </p:extLst>
          </p:nvPr>
        </p:nvGraphicFramePr>
        <p:xfrm>
          <a:off x="476251" y="3188074"/>
          <a:ext cx="10531286" cy="18466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8263425"/>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 name="Straight Connector 8">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0" name="Rectangle 19">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648049AD-9827-49E8-8BF5-32E175C8E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3" name="Straight Connector 22">
              <a:extLst>
                <a:ext uri="{FF2B5EF4-FFF2-40B4-BE49-F238E27FC236}">
                  <a16:creationId xmlns:a16="http://schemas.microsoft.com/office/drawing/2014/main" id="{3AA99CFD-13BA-4D43-8274-E720ACDBED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46D58D6-64B0-4752-8159-24114F47A5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C16801F7-F15E-4355-8767-26487BA8B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a:extLst>
                <a:ext uri="{FF2B5EF4-FFF2-40B4-BE49-F238E27FC236}">
                  <a16:creationId xmlns:a16="http://schemas.microsoft.com/office/drawing/2014/main" id="{14FF0578-E224-4225-8396-B99D4881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a:extLst>
                <a:ext uri="{FF2B5EF4-FFF2-40B4-BE49-F238E27FC236}">
                  <a16:creationId xmlns:a16="http://schemas.microsoft.com/office/drawing/2014/main" id="{4642C0E0-9644-41F1-8CF3-33779AA8A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5F77D9D3-628A-4607-B307-91AAA5603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a:extLst>
                <a:ext uri="{FF2B5EF4-FFF2-40B4-BE49-F238E27FC236}">
                  <a16:creationId xmlns:a16="http://schemas.microsoft.com/office/drawing/2014/main" id="{0600759E-C22E-4F3D-8569-0DE8F1D4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9A4E951D-EAB0-4F6B-84AE-B5B25684F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a:extLst>
                <a:ext uri="{FF2B5EF4-FFF2-40B4-BE49-F238E27FC236}">
                  <a16:creationId xmlns:a16="http://schemas.microsoft.com/office/drawing/2014/main" id="{B953BEA8-1B45-419E-BACD-49DB8888B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Isosceles Triangle 31">
              <a:extLst>
                <a:ext uri="{FF2B5EF4-FFF2-40B4-BE49-F238E27FC236}">
                  <a16:creationId xmlns:a16="http://schemas.microsoft.com/office/drawing/2014/main" id="{72B7FA08-1FF3-4AED-B4E9-587D81D6B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extBox 1">
            <a:extLst>
              <a:ext uri="{FF2B5EF4-FFF2-40B4-BE49-F238E27FC236}">
                <a16:creationId xmlns:a16="http://schemas.microsoft.com/office/drawing/2014/main" id="{B2E01285-3DB7-6A7E-A35A-18A95DB26E15}"/>
              </a:ext>
            </a:extLst>
          </p:cNvPr>
          <p:cNvSpPr txBox="1"/>
          <p:nvPr/>
        </p:nvSpPr>
        <p:spPr>
          <a:xfrm>
            <a:off x="677334" y="609600"/>
            <a:ext cx="8596668" cy="132080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spcBef>
                <a:spcPct val="0"/>
              </a:spcBef>
              <a:spcAft>
                <a:spcPts val="600"/>
              </a:spcAft>
            </a:pPr>
            <a:r>
              <a:rPr lang="en-US" sz="3600" b="1" u="sng" dirty="0">
                <a:latin typeface="+mj-lt"/>
                <a:ea typeface="+mj-ea"/>
                <a:cs typeface="+mj-cs"/>
              </a:rPr>
              <a:t>Literature Survey:</a:t>
            </a:r>
          </a:p>
        </p:txBody>
      </p:sp>
      <p:sp>
        <p:nvSpPr>
          <p:cNvPr id="3" name="TextBox 2">
            <a:extLst>
              <a:ext uri="{FF2B5EF4-FFF2-40B4-BE49-F238E27FC236}">
                <a16:creationId xmlns:a16="http://schemas.microsoft.com/office/drawing/2014/main" id="{0D09C119-D96A-1B6A-C7B5-916E385980FD}"/>
              </a:ext>
            </a:extLst>
          </p:cNvPr>
          <p:cNvSpPr txBox="1"/>
          <p:nvPr/>
        </p:nvSpPr>
        <p:spPr>
          <a:xfrm>
            <a:off x="576481" y="1275324"/>
            <a:ext cx="9739667" cy="3880773"/>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Bef>
                <a:spcPts val="1000"/>
              </a:spcBef>
              <a:buClr>
                <a:schemeClr val="accent1"/>
              </a:buClr>
              <a:buSzPct val="80000"/>
            </a:pPr>
            <a:r>
              <a:rPr lang="en-US" sz="2400" u="sng" dirty="0"/>
              <a:t>Data security in Cyber-Physical Systems (CPS):</a:t>
            </a:r>
          </a:p>
          <a:p>
            <a:pPr marL="342900" indent="-342900">
              <a:buClr>
                <a:schemeClr val="accent1"/>
              </a:buClr>
              <a:buSzPct val="80000"/>
              <a:buFont typeface="Wingdings" charset="2"/>
              <a:buChar char="Ø"/>
            </a:pPr>
            <a:r>
              <a:rPr lang="en-US" sz="2000" b="1" dirty="0">
                <a:ea typeface="+mn-lt"/>
                <a:cs typeface="+mn-lt"/>
              </a:rPr>
              <a:t>Data Security Challenge:</a:t>
            </a:r>
            <a:r>
              <a:rPr lang="en-US" sz="2000" dirty="0">
                <a:ea typeface="+mn-lt"/>
                <a:cs typeface="+mn-lt"/>
              </a:rPr>
              <a:t> </a:t>
            </a:r>
            <a:r>
              <a:rPr lang="en-US" sz="2000" dirty="0">
                <a:solidFill>
                  <a:schemeClr val="accent1"/>
                </a:solidFill>
                <a:ea typeface="+mn-lt"/>
                <a:cs typeface="+mn-lt"/>
              </a:rPr>
              <a:t>Data security is crucial for CPS and AI algorithms. Large amounts of data from various sources are needed, but this data also requires robust protection. Stronger AI can potentially enhance data security by identifying complex threats.</a:t>
            </a:r>
            <a:endParaRPr lang="en-US" sz="2000">
              <a:solidFill>
                <a:schemeClr val="accent1"/>
              </a:solidFill>
              <a:ea typeface="+mn-lt"/>
              <a:cs typeface="+mn-lt"/>
            </a:endParaRPr>
          </a:p>
          <a:p>
            <a:pPr marL="342900" indent="-342900">
              <a:buFont typeface="Wingdings" charset="2"/>
              <a:buChar char="Ø"/>
            </a:pPr>
            <a:r>
              <a:rPr lang="en-US" sz="2000" b="1" dirty="0">
                <a:ea typeface="+mn-lt"/>
                <a:cs typeface="+mn-lt"/>
              </a:rPr>
              <a:t>Efforts to Decouple Data and Applications:</a:t>
            </a:r>
            <a:r>
              <a:rPr lang="en-US" sz="2000" dirty="0">
                <a:ea typeface="+mn-lt"/>
                <a:cs typeface="+mn-lt"/>
              </a:rPr>
              <a:t> </a:t>
            </a:r>
            <a:r>
              <a:rPr lang="en-US" sz="2000" dirty="0">
                <a:solidFill>
                  <a:schemeClr val="accent1"/>
                </a:solidFill>
                <a:ea typeface="+mn-lt"/>
                <a:cs typeface="+mn-lt"/>
              </a:rPr>
              <a:t>The passage discusses two approaches to improve data security in CPS:</a:t>
            </a:r>
            <a:endParaRPr lang="en-US" sz="2000">
              <a:solidFill>
                <a:schemeClr val="accent1"/>
              </a:solidFill>
              <a:ea typeface="+mn-lt"/>
              <a:cs typeface="+mn-lt"/>
            </a:endParaRPr>
          </a:p>
          <a:p>
            <a:pPr marL="342900" indent="-342900">
              <a:lnSpc>
                <a:spcPct val="90000"/>
              </a:lnSpc>
              <a:spcBef>
                <a:spcPts val="1000"/>
              </a:spcBef>
              <a:buClr>
                <a:srgbClr val="5FCBEF"/>
              </a:buClr>
              <a:buSzPct val="80000"/>
              <a:buFont typeface="Wingdings" charset="2"/>
              <a:buChar char="Ø"/>
            </a:pPr>
            <a:endParaRPr lang="en-US" sz="2000" dirty="0">
              <a:solidFill>
                <a:schemeClr val="accent1"/>
              </a:solidFill>
            </a:endParaRPr>
          </a:p>
          <a:p>
            <a:pPr marL="285750" indent="-285750">
              <a:lnSpc>
                <a:spcPct val="90000"/>
              </a:lnSpc>
              <a:spcBef>
                <a:spcPts val="1000"/>
              </a:spcBef>
              <a:buClr>
                <a:schemeClr val="accent1"/>
              </a:buClr>
              <a:buSzPct val="80000"/>
              <a:buFont typeface="Wingdings" charset="2"/>
              <a:buChar char="Ø"/>
            </a:pPr>
            <a:endParaRPr lang="en-US" sz="2000" dirty="0">
              <a:solidFill>
                <a:schemeClr val="tx1">
                  <a:lumMod val="75000"/>
                  <a:lumOff val="25000"/>
                </a:schemeClr>
              </a:solidFill>
            </a:endParaRPr>
          </a:p>
        </p:txBody>
      </p:sp>
      <p:sp>
        <p:nvSpPr>
          <p:cNvPr id="4" name="TextBox 3">
            <a:extLst>
              <a:ext uri="{FF2B5EF4-FFF2-40B4-BE49-F238E27FC236}">
                <a16:creationId xmlns:a16="http://schemas.microsoft.com/office/drawing/2014/main" id="{E0A15011-6503-67F8-18AC-24D5B65FA6AD}"/>
              </a:ext>
            </a:extLst>
          </p:cNvPr>
          <p:cNvSpPr txBox="1"/>
          <p:nvPr/>
        </p:nvSpPr>
        <p:spPr>
          <a:xfrm>
            <a:off x="1456764" y="3636308"/>
            <a:ext cx="8861611"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2000" b="1" dirty="0">
                <a:solidFill>
                  <a:schemeClr val="accent1"/>
                </a:solidFill>
              </a:rPr>
              <a:t>Amber Architecture:</a:t>
            </a:r>
            <a:r>
              <a:rPr lang="en-US" sz="2000" dirty="0">
                <a:solidFill>
                  <a:schemeClr val="accent1"/>
                </a:solidFill>
              </a:rPr>
              <a:t> This separates user data from web applications, granting users control over their information and enabling a search function.</a:t>
            </a:r>
          </a:p>
          <a:p>
            <a:pPr marL="285750" indent="-285750">
              <a:buFont typeface="Arial,Sans-Serif"/>
              <a:buChar char="•"/>
            </a:pPr>
            <a:r>
              <a:rPr lang="en-US" sz="2000" b="1" err="1">
                <a:solidFill>
                  <a:schemeClr val="accent1"/>
                </a:solidFill>
              </a:rPr>
              <a:t>OpenPDS</a:t>
            </a:r>
            <a:r>
              <a:rPr lang="en-US" sz="2000" b="1" dirty="0">
                <a:solidFill>
                  <a:schemeClr val="accent1"/>
                </a:solidFill>
              </a:rPr>
              <a:t> (Open Personal Data Store):</a:t>
            </a:r>
            <a:r>
              <a:rPr lang="en-US" sz="2000" dirty="0">
                <a:solidFill>
                  <a:schemeClr val="accent1"/>
                </a:solidFill>
              </a:rPr>
              <a:t> This acts as a secure virtual space for users to manage their data, isolating it from applications and offering a "</a:t>
            </a:r>
            <a:r>
              <a:rPr lang="en-US" sz="2000" err="1">
                <a:solidFill>
                  <a:schemeClr val="accent1"/>
                </a:solidFill>
              </a:rPr>
              <a:t>SafeAnswer</a:t>
            </a:r>
            <a:r>
              <a:rPr lang="en-US" sz="2000" dirty="0">
                <a:solidFill>
                  <a:schemeClr val="accent1"/>
                </a:solidFill>
              </a:rPr>
              <a:t>" mechanism to reduce data exposure during queries.</a:t>
            </a:r>
          </a:p>
          <a:p>
            <a:pPr algn="l"/>
            <a:endParaRPr lang="en-US" sz="2000" dirty="0"/>
          </a:p>
        </p:txBody>
      </p:sp>
    </p:spTree>
    <p:extLst>
      <p:ext uri="{BB962C8B-B14F-4D97-AF65-F5344CB8AC3E}">
        <p14:creationId xmlns:p14="http://schemas.microsoft.com/office/powerpoint/2010/main" val="153689531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 name="Straight Connector 8">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0" name="Rectangle 19">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648049AD-9827-49E8-8BF5-32E175C8E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3" name="Straight Connector 22">
              <a:extLst>
                <a:ext uri="{FF2B5EF4-FFF2-40B4-BE49-F238E27FC236}">
                  <a16:creationId xmlns:a16="http://schemas.microsoft.com/office/drawing/2014/main" id="{3AA99CFD-13BA-4D43-8274-E720ACDBED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46D58D6-64B0-4752-8159-24114F47A5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C16801F7-F15E-4355-8767-26487BA8B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a:extLst>
                <a:ext uri="{FF2B5EF4-FFF2-40B4-BE49-F238E27FC236}">
                  <a16:creationId xmlns:a16="http://schemas.microsoft.com/office/drawing/2014/main" id="{14FF0578-E224-4225-8396-B99D4881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a:extLst>
                <a:ext uri="{FF2B5EF4-FFF2-40B4-BE49-F238E27FC236}">
                  <a16:creationId xmlns:a16="http://schemas.microsoft.com/office/drawing/2014/main" id="{4642C0E0-9644-41F1-8CF3-33779AA8A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5F77D9D3-628A-4607-B307-91AAA5603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a:extLst>
                <a:ext uri="{FF2B5EF4-FFF2-40B4-BE49-F238E27FC236}">
                  <a16:creationId xmlns:a16="http://schemas.microsoft.com/office/drawing/2014/main" id="{0600759E-C22E-4F3D-8569-0DE8F1D4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9A4E951D-EAB0-4F6B-84AE-B5B25684F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a:extLst>
                <a:ext uri="{FF2B5EF4-FFF2-40B4-BE49-F238E27FC236}">
                  <a16:creationId xmlns:a16="http://schemas.microsoft.com/office/drawing/2014/main" id="{B953BEA8-1B45-419E-BACD-49DB8888B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Isosceles Triangle 31">
              <a:extLst>
                <a:ext uri="{FF2B5EF4-FFF2-40B4-BE49-F238E27FC236}">
                  <a16:creationId xmlns:a16="http://schemas.microsoft.com/office/drawing/2014/main" id="{72B7FA08-1FF3-4AED-B4E9-587D81D6B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extBox 1">
            <a:extLst>
              <a:ext uri="{FF2B5EF4-FFF2-40B4-BE49-F238E27FC236}">
                <a16:creationId xmlns:a16="http://schemas.microsoft.com/office/drawing/2014/main" id="{A397F43A-CF95-E7E1-A6BC-810EFF4A3072}"/>
              </a:ext>
            </a:extLst>
          </p:cNvPr>
          <p:cNvSpPr txBox="1"/>
          <p:nvPr/>
        </p:nvSpPr>
        <p:spPr>
          <a:xfrm>
            <a:off x="632510" y="961560"/>
            <a:ext cx="8596668" cy="3880773"/>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42900" indent="-342900">
              <a:lnSpc>
                <a:spcPct val="90000"/>
              </a:lnSpc>
              <a:spcBef>
                <a:spcPts val="1000"/>
              </a:spcBef>
              <a:buClr>
                <a:schemeClr val="accent1"/>
              </a:buClr>
              <a:buSzPct val="80000"/>
              <a:buFont typeface="Wingdings" charset="2"/>
              <a:buChar char="Ø"/>
            </a:pPr>
            <a:r>
              <a:rPr lang="en-US" sz="2000" b="1" dirty="0"/>
              <a:t>Blockchain for Secure Data Management:</a:t>
            </a:r>
            <a:r>
              <a:rPr lang="en-US" sz="2000" dirty="0"/>
              <a:t> </a:t>
            </a:r>
            <a:r>
              <a:rPr lang="en-US" sz="2000" dirty="0">
                <a:solidFill>
                  <a:schemeClr val="accent1"/>
                </a:solidFill>
              </a:rPr>
              <a:t>Blockchain technology emerges as a promising solution for CPS data security. It offers:</a:t>
            </a:r>
            <a:endParaRPr lang="en-US" dirty="0">
              <a:solidFill>
                <a:schemeClr val="accent1"/>
              </a:solidFill>
            </a:endParaRPr>
          </a:p>
          <a:p>
            <a:pPr marL="342900" indent="-342900">
              <a:lnSpc>
                <a:spcPct val="90000"/>
              </a:lnSpc>
              <a:spcBef>
                <a:spcPts val="1000"/>
              </a:spcBef>
              <a:buClr>
                <a:schemeClr val="accent1"/>
              </a:buClr>
              <a:buSzPct val="80000"/>
              <a:buFont typeface="Wingdings" charset="2"/>
              <a:buChar char="Ø"/>
            </a:pPr>
            <a:endParaRPr lang="en-US" sz="2000" dirty="0">
              <a:solidFill>
                <a:schemeClr val="accent1"/>
              </a:solidFill>
            </a:endParaRPr>
          </a:p>
          <a:p>
            <a:pPr marL="342900" indent="-342900">
              <a:lnSpc>
                <a:spcPct val="90000"/>
              </a:lnSpc>
              <a:spcBef>
                <a:spcPts val="1000"/>
              </a:spcBef>
              <a:buClr>
                <a:schemeClr val="accent1"/>
              </a:buClr>
              <a:buSzPct val="80000"/>
              <a:buFont typeface="Wingdings" charset="2"/>
              <a:buChar char="Ø"/>
            </a:pPr>
            <a:endParaRPr lang="en-US" sz="2000" dirty="0">
              <a:solidFill>
                <a:schemeClr val="accent1"/>
              </a:solidFill>
            </a:endParaRPr>
          </a:p>
          <a:p>
            <a:pPr marL="342900" indent="-342900">
              <a:lnSpc>
                <a:spcPct val="90000"/>
              </a:lnSpc>
              <a:spcBef>
                <a:spcPts val="1000"/>
              </a:spcBef>
              <a:buClr>
                <a:schemeClr val="accent1"/>
              </a:buClr>
              <a:buSzPct val="80000"/>
              <a:buFont typeface="Wingdings" charset="2"/>
              <a:buChar char="Ø"/>
            </a:pPr>
            <a:endParaRPr lang="en-US" sz="2000" dirty="0">
              <a:solidFill>
                <a:schemeClr val="accent1"/>
              </a:solidFill>
            </a:endParaRPr>
          </a:p>
          <a:p>
            <a:pPr marL="342900" indent="-342900">
              <a:lnSpc>
                <a:spcPct val="90000"/>
              </a:lnSpc>
              <a:spcBef>
                <a:spcPts val="1000"/>
              </a:spcBef>
              <a:buClr>
                <a:schemeClr val="accent1"/>
              </a:buClr>
              <a:buSzPct val="80000"/>
              <a:buFont typeface="Wingdings" charset="2"/>
              <a:buChar char="Ø"/>
            </a:pPr>
            <a:endParaRPr lang="en-US" sz="2000" dirty="0">
              <a:solidFill>
                <a:schemeClr val="accent1"/>
              </a:solidFill>
            </a:endParaRPr>
          </a:p>
          <a:p>
            <a:pPr marL="342900" indent="-342900">
              <a:lnSpc>
                <a:spcPct val="90000"/>
              </a:lnSpc>
              <a:spcBef>
                <a:spcPts val="1000"/>
              </a:spcBef>
              <a:buClr>
                <a:schemeClr val="accent1"/>
              </a:buClr>
              <a:buSzPct val="80000"/>
              <a:buFont typeface="Wingdings" charset="2"/>
              <a:buChar char="Ø"/>
            </a:pPr>
            <a:endParaRPr lang="en-US" sz="2000" dirty="0">
              <a:solidFill>
                <a:schemeClr val="accent1"/>
              </a:solidFill>
            </a:endParaRPr>
          </a:p>
          <a:p>
            <a:pPr marL="342900" indent="-342900">
              <a:lnSpc>
                <a:spcPct val="90000"/>
              </a:lnSpc>
              <a:spcBef>
                <a:spcPts val="1000"/>
              </a:spcBef>
              <a:buClr>
                <a:schemeClr val="accent1"/>
              </a:buClr>
              <a:buSzPct val="80000"/>
              <a:buFont typeface="Wingdings" charset="2"/>
              <a:buChar char="Ø"/>
            </a:pPr>
            <a:r>
              <a:rPr lang="en-US" sz="2000" b="1" dirty="0"/>
              <a:t>AI for Enhanced Security:</a:t>
            </a:r>
            <a:r>
              <a:rPr lang="en-US" sz="2000" dirty="0">
                <a:solidFill>
                  <a:schemeClr val="accent1"/>
                </a:solidFill>
              </a:rPr>
              <a:t> AI can analyze vast amounts of data to identify patterns and make predictions, potentially improving data security in CPS. The passage highlights the need for large datasets to train robust AI models for better data protection.</a:t>
            </a:r>
          </a:p>
          <a:p>
            <a:pPr marL="342900" indent="-342900">
              <a:lnSpc>
                <a:spcPct val="90000"/>
              </a:lnSpc>
              <a:spcBef>
                <a:spcPts val="1000"/>
              </a:spcBef>
              <a:buClr>
                <a:schemeClr val="accent1"/>
              </a:buClr>
              <a:buSzPct val="80000"/>
              <a:buFont typeface="Wingdings" charset="2"/>
              <a:buChar char="Ø"/>
            </a:pPr>
            <a:endParaRPr lang="en-US" sz="2000" dirty="0">
              <a:solidFill>
                <a:schemeClr val="accent1"/>
              </a:solidFill>
            </a:endParaRPr>
          </a:p>
        </p:txBody>
      </p:sp>
      <p:sp>
        <p:nvSpPr>
          <p:cNvPr id="3" name="TextBox 2">
            <a:extLst>
              <a:ext uri="{FF2B5EF4-FFF2-40B4-BE49-F238E27FC236}">
                <a16:creationId xmlns:a16="http://schemas.microsoft.com/office/drawing/2014/main" id="{3AF2AD98-3E84-DF1D-CBB1-0207F9464134}"/>
              </a:ext>
            </a:extLst>
          </p:cNvPr>
          <p:cNvSpPr txBox="1"/>
          <p:nvPr/>
        </p:nvSpPr>
        <p:spPr>
          <a:xfrm>
            <a:off x="1526801" y="1697691"/>
            <a:ext cx="6620435"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Aft>
                <a:spcPts val="600"/>
              </a:spcAft>
              <a:buFont typeface="Arial,Sans-Serif"/>
              <a:buChar char="•"/>
            </a:pPr>
            <a:r>
              <a:rPr lang="en-US" sz="2000" b="1" dirty="0">
                <a:solidFill>
                  <a:schemeClr val="accent1"/>
                </a:solidFill>
              </a:rPr>
              <a:t>Tamper-proof and Traceable Recording:</a:t>
            </a:r>
            <a:r>
              <a:rPr lang="en-US" sz="2000" dirty="0">
                <a:solidFill>
                  <a:schemeClr val="accent1"/>
                </a:solidFill>
              </a:rPr>
              <a:t> Data records cannot be altered, ensuring data integrity and traceability.</a:t>
            </a:r>
          </a:p>
          <a:p>
            <a:pPr marL="285750" indent="-285750">
              <a:spcAft>
                <a:spcPts val="600"/>
              </a:spcAft>
              <a:buFont typeface="Arial,Sans-Serif"/>
              <a:buChar char="•"/>
            </a:pPr>
            <a:r>
              <a:rPr lang="en-US" sz="2000" b="1" dirty="0">
                <a:solidFill>
                  <a:schemeClr val="accent1"/>
                </a:solidFill>
              </a:rPr>
              <a:t>Incentive Mechanisms:</a:t>
            </a:r>
            <a:r>
              <a:rPr lang="en-US" sz="2000" dirty="0">
                <a:solidFill>
                  <a:schemeClr val="accent1"/>
                </a:solidFill>
              </a:rPr>
              <a:t> Blockchain can incentivize data sharing, promoting collaboration and potentially leading to more secure systems.</a:t>
            </a:r>
          </a:p>
          <a:p>
            <a:pPr algn="l">
              <a:spcAft>
                <a:spcPts val="600"/>
              </a:spcAft>
            </a:pPr>
            <a:endParaRPr lang="en-US" sz="2000" dirty="0">
              <a:solidFill>
                <a:schemeClr val="accent1"/>
              </a:solidFill>
            </a:endParaRPr>
          </a:p>
        </p:txBody>
      </p:sp>
    </p:spTree>
    <p:extLst>
      <p:ext uri="{BB962C8B-B14F-4D97-AF65-F5344CB8AC3E}">
        <p14:creationId xmlns:p14="http://schemas.microsoft.com/office/powerpoint/2010/main" val="914360487"/>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 name="Straight Connector 8">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0" name="Rectangle 19">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648049AD-9827-49E8-8BF5-32E175C8E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3" name="Straight Connector 22">
              <a:extLst>
                <a:ext uri="{FF2B5EF4-FFF2-40B4-BE49-F238E27FC236}">
                  <a16:creationId xmlns:a16="http://schemas.microsoft.com/office/drawing/2014/main" id="{3AA99CFD-13BA-4D43-8274-E720ACDBED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46D58D6-64B0-4752-8159-24114F47A5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C16801F7-F15E-4355-8767-26487BA8B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a:extLst>
                <a:ext uri="{FF2B5EF4-FFF2-40B4-BE49-F238E27FC236}">
                  <a16:creationId xmlns:a16="http://schemas.microsoft.com/office/drawing/2014/main" id="{14FF0578-E224-4225-8396-B99D4881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a:extLst>
                <a:ext uri="{FF2B5EF4-FFF2-40B4-BE49-F238E27FC236}">
                  <a16:creationId xmlns:a16="http://schemas.microsoft.com/office/drawing/2014/main" id="{4642C0E0-9644-41F1-8CF3-33779AA8A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5F77D9D3-628A-4607-B307-91AAA5603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a:extLst>
                <a:ext uri="{FF2B5EF4-FFF2-40B4-BE49-F238E27FC236}">
                  <a16:creationId xmlns:a16="http://schemas.microsoft.com/office/drawing/2014/main" id="{0600759E-C22E-4F3D-8569-0DE8F1D4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9A4E951D-EAB0-4F6B-84AE-B5B25684F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a:extLst>
                <a:ext uri="{FF2B5EF4-FFF2-40B4-BE49-F238E27FC236}">
                  <a16:creationId xmlns:a16="http://schemas.microsoft.com/office/drawing/2014/main" id="{B953BEA8-1B45-419E-BACD-49DB8888B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Isosceles Triangle 31">
              <a:extLst>
                <a:ext uri="{FF2B5EF4-FFF2-40B4-BE49-F238E27FC236}">
                  <a16:creationId xmlns:a16="http://schemas.microsoft.com/office/drawing/2014/main" id="{72B7FA08-1FF3-4AED-B4E9-587D81D6B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extBox 1">
            <a:extLst>
              <a:ext uri="{FF2B5EF4-FFF2-40B4-BE49-F238E27FC236}">
                <a16:creationId xmlns:a16="http://schemas.microsoft.com/office/drawing/2014/main" id="{83550371-79C3-CF85-D22B-D4331DE71CDF}"/>
              </a:ext>
            </a:extLst>
          </p:cNvPr>
          <p:cNvSpPr txBox="1"/>
          <p:nvPr/>
        </p:nvSpPr>
        <p:spPr>
          <a:xfrm>
            <a:off x="486834" y="300413"/>
            <a:ext cx="8831991" cy="3880773"/>
          </a:xfrm>
          <a:prstGeom prst="rect">
            <a:avLst/>
          </a:prstGeom>
        </p:spPr>
        <p:txBody>
          <a:bodyPr vert="horz" lIns="91440" tIns="45720" rIns="91440" bIns="45720" rtlCol="0" anchor="t">
            <a:normAutofit/>
          </a:bodyPr>
          <a:lstStyle/>
          <a:p>
            <a:pPr>
              <a:spcBef>
                <a:spcPts val="1000"/>
              </a:spcBef>
              <a:buClr>
                <a:schemeClr val="accent1"/>
              </a:buClr>
              <a:buSzPct val="80000"/>
            </a:pPr>
            <a:r>
              <a:rPr lang="en-US" sz="2800" b="1" u="sng" dirty="0">
                <a:solidFill>
                  <a:schemeClr val="tx1">
                    <a:lumMod val="75000"/>
                    <a:lumOff val="25000"/>
                  </a:schemeClr>
                </a:solidFill>
              </a:rPr>
              <a:t>Existing system:</a:t>
            </a:r>
            <a:endParaRPr lang="en-US" sz="2800" dirty="0">
              <a:solidFill>
                <a:schemeClr val="tx1">
                  <a:lumMod val="75000"/>
                  <a:lumOff val="25000"/>
                </a:schemeClr>
              </a:solidFill>
            </a:endParaRPr>
          </a:p>
          <a:p>
            <a:pPr marL="342900" indent="-342900">
              <a:spcBef>
                <a:spcPts val="1000"/>
              </a:spcBef>
              <a:buClr>
                <a:schemeClr val="accent1"/>
              </a:buClr>
              <a:buSzPct val="80000"/>
              <a:buFont typeface="Wingdings" charset="2"/>
              <a:buChar char="Ø"/>
            </a:pPr>
            <a:r>
              <a:rPr lang="en-US" sz="2400" b="1" dirty="0"/>
              <a:t>Ineffectiveness of Encryption:</a:t>
            </a:r>
            <a:r>
              <a:rPr lang="en-US" sz="2000" dirty="0"/>
              <a:t> </a:t>
            </a:r>
            <a:r>
              <a:rPr lang="en-US" sz="2000" dirty="0">
                <a:solidFill>
                  <a:schemeClr val="accent1"/>
                </a:solidFill>
              </a:rPr>
              <a:t>Traditional encryption methods might not be sufficient to fully secure data from attackers. </a:t>
            </a:r>
          </a:p>
          <a:p>
            <a:pPr marL="342900" indent="-342900">
              <a:spcBef>
                <a:spcPts val="1000"/>
              </a:spcBef>
              <a:buClr>
                <a:schemeClr val="accent1"/>
              </a:buClr>
              <a:buSzPct val="80000"/>
              <a:buFont typeface="Wingdings" charset="2"/>
              <a:buChar char="Ø"/>
            </a:pPr>
            <a:r>
              <a:rPr lang="en-US" sz="2400" b="1" dirty="0"/>
              <a:t>Lack of User Authorization Verification:</a:t>
            </a:r>
            <a:r>
              <a:rPr lang="en-US" sz="2400" dirty="0"/>
              <a:t> </a:t>
            </a:r>
            <a:r>
              <a:rPr lang="en-US" sz="2000" dirty="0">
                <a:solidFill>
                  <a:schemeClr val="accent1"/>
                </a:solidFill>
              </a:rPr>
              <a:t>Existing systems might not always verify user access permissions properly. </a:t>
            </a:r>
          </a:p>
          <a:p>
            <a:pPr marL="342900" indent="-342900">
              <a:spcBef>
                <a:spcPts val="1000"/>
              </a:spcBef>
              <a:buClr>
                <a:schemeClr val="accent1"/>
              </a:buClr>
              <a:buSzPct val="80000"/>
              <a:buFont typeface="Wingdings" charset="2"/>
              <a:buChar char="Ø"/>
            </a:pPr>
            <a:r>
              <a:rPr lang="en-US" sz="2000" dirty="0">
                <a:solidFill>
                  <a:schemeClr val="accent1"/>
                </a:solidFill>
              </a:rPr>
              <a:t>Hackers use various techniques to potentially crack encryption or exploit vulnerabilities in the </a:t>
            </a:r>
            <a:r>
              <a:rPr lang="en-US" sz="2000" err="1">
                <a:solidFill>
                  <a:schemeClr val="accent1"/>
                </a:solidFill>
              </a:rPr>
              <a:t>system.This</a:t>
            </a:r>
            <a:r>
              <a:rPr lang="en-US" sz="2000" dirty="0">
                <a:solidFill>
                  <a:schemeClr val="accent1"/>
                </a:solidFill>
              </a:rPr>
              <a:t> can lead to unauthorized individuals gaining access to sensitive data.</a:t>
            </a:r>
          </a:p>
          <a:p>
            <a:pPr marL="285750" indent="-285750">
              <a:spcBef>
                <a:spcPts val="1000"/>
              </a:spcBef>
              <a:buClr>
                <a:schemeClr val="accent1"/>
              </a:buClr>
              <a:buSzPct val="80000"/>
              <a:buFont typeface="Wingdings" charset="2"/>
              <a:buChar char="Ø"/>
            </a:pPr>
            <a:endParaRPr lang="en-US" sz="2000" dirty="0">
              <a:solidFill>
                <a:schemeClr val="accent1"/>
              </a:solidFill>
            </a:endParaRPr>
          </a:p>
          <a:p>
            <a:pPr>
              <a:spcBef>
                <a:spcPts val="1000"/>
              </a:spcBef>
              <a:buClr>
                <a:schemeClr val="accent1"/>
              </a:buClr>
              <a:buSzPct val="80000"/>
              <a:buFont typeface="Wingdings" charset="2"/>
              <a:buChar char="Ø"/>
            </a:pPr>
            <a:endParaRPr lang="en-US" sz="2000" dirty="0">
              <a:solidFill>
                <a:schemeClr val="tx1">
                  <a:lumMod val="75000"/>
                  <a:lumOff val="25000"/>
                </a:schemeClr>
              </a:solidFill>
            </a:endParaRPr>
          </a:p>
          <a:p>
            <a:pPr>
              <a:spcBef>
                <a:spcPts val="1000"/>
              </a:spcBef>
              <a:buClr>
                <a:schemeClr val="accent1"/>
              </a:buClr>
              <a:buSzPct val="80000"/>
              <a:buFont typeface="Wingdings" charset="2"/>
              <a:buChar char="Ø"/>
            </a:pPr>
            <a:endParaRPr lang="en-US" sz="2000" dirty="0">
              <a:solidFill>
                <a:schemeClr val="tx1">
                  <a:lumMod val="75000"/>
                  <a:lumOff val="25000"/>
                </a:schemeClr>
              </a:solidFill>
            </a:endParaRPr>
          </a:p>
          <a:p>
            <a:pPr>
              <a:spcBef>
                <a:spcPts val="1000"/>
              </a:spcBef>
              <a:buClr>
                <a:schemeClr val="accent1"/>
              </a:buClr>
              <a:buSzPct val="80000"/>
              <a:buFont typeface="Wingdings" charset="2"/>
              <a:buChar char="Ø"/>
            </a:pPr>
            <a:endParaRPr lang="en-US" sz="2000" dirty="0">
              <a:solidFill>
                <a:schemeClr val="tx1">
                  <a:lumMod val="75000"/>
                  <a:lumOff val="25000"/>
                </a:schemeClr>
              </a:solidFill>
            </a:endParaRPr>
          </a:p>
          <a:p>
            <a:pPr marL="457200">
              <a:spcBef>
                <a:spcPts val="1000"/>
              </a:spcBef>
              <a:buClr>
                <a:schemeClr val="accent1"/>
              </a:buClr>
              <a:buSzPct val="80000"/>
              <a:buFont typeface="Wingdings" charset="2"/>
              <a:buChar char="Ø"/>
            </a:pPr>
            <a:endParaRPr lang="en-US" sz="2000" b="1" dirty="0">
              <a:solidFill>
                <a:schemeClr val="tx1">
                  <a:lumMod val="75000"/>
                  <a:lumOff val="25000"/>
                </a:schemeClr>
              </a:solidFill>
            </a:endParaRPr>
          </a:p>
        </p:txBody>
      </p:sp>
      <p:sp>
        <p:nvSpPr>
          <p:cNvPr id="3" name="TextBox 2">
            <a:extLst>
              <a:ext uri="{FF2B5EF4-FFF2-40B4-BE49-F238E27FC236}">
                <a16:creationId xmlns:a16="http://schemas.microsoft.com/office/drawing/2014/main" id="{8CFA474E-2B95-3D25-683B-66D83B04550C}"/>
              </a:ext>
            </a:extLst>
          </p:cNvPr>
          <p:cNvSpPr txBox="1"/>
          <p:nvPr/>
        </p:nvSpPr>
        <p:spPr>
          <a:xfrm>
            <a:off x="860051" y="3106830"/>
            <a:ext cx="8099611" cy="29597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spcAft>
                <a:spcPts val="600"/>
              </a:spcAft>
            </a:pPr>
            <a:endParaRPr lang="en-IN" sz="2000">
              <a:latin typeface="Times New Roman"/>
              <a:cs typeface="Times New Roman"/>
            </a:endParaRPr>
          </a:p>
          <a:p>
            <a:pPr>
              <a:spcBef>
                <a:spcPts val="1000"/>
              </a:spcBef>
            </a:pPr>
            <a:r>
              <a:rPr lang="en-US" sz="2400" b="1" u="sng" dirty="0">
                <a:solidFill>
                  <a:schemeClr val="tx1">
                    <a:lumMod val="75000"/>
                    <a:lumOff val="25000"/>
                  </a:schemeClr>
                </a:solidFill>
                <a:latin typeface="Trebuchet MS"/>
                <a:cs typeface="Times New Roman"/>
              </a:rPr>
              <a:t>Disadvantages:</a:t>
            </a:r>
            <a:endParaRPr lang="en-US" sz="2400" u="sng" dirty="0">
              <a:solidFill>
                <a:schemeClr val="tx1">
                  <a:lumMod val="75000"/>
                  <a:lumOff val="25000"/>
                </a:schemeClr>
              </a:solidFill>
              <a:latin typeface="Trebuchet MS"/>
              <a:cs typeface="Times New Roman"/>
            </a:endParaRPr>
          </a:p>
          <a:p>
            <a:pPr marL="342900" indent="-342900">
              <a:spcAft>
                <a:spcPts val="600"/>
              </a:spcAft>
              <a:buFont typeface="Arial"/>
              <a:buChar char="•"/>
            </a:pPr>
            <a:r>
              <a:rPr lang="en-US" sz="2000" b="1" dirty="0"/>
              <a:t>Vulnerability to Attacks:</a:t>
            </a:r>
            <a:r>
              <a:rPr lang="en-US" sz="2000" dirty="0">
                <a:solidFill>
                  <a:schemeClr val="accent1"/>
                </a:solidFill>
              </a:rPr>
              <a:t> Encryption, a common protection method, can be broken by determined attackers, leads to data exposed.</a:t>
            </a:r>
          </a:p>
          <a:p>
            <a:pPr marL="342900" indent="-342900">
              <a:spcAft>
                <a:spcPts val="600"/>
              </a:spcAft>
              <a:buFont typeface="Arial"/>
              <a:buChar char="•"/>
            </a:pPr>
            <a:r>
              <a:rPr lang="en-US" sz="2000" b="1" dirty="0"/>
              <a:t>Uncontrolled Access:</a:t>
            </a:r>
            <a:r>
              <a:rPr lang="en-US" sz="2000" dirty="0">
                <a:solidFill>
                  <a:schemeClr val="accent1"/>
                </a:solidFill>
              </a:rPr>
              <a:t> Existing systems might not always check user permissions thoroughly, allowing unauthorized access to sensitive data.</a:t>
            </a:r>
          </a:p>
        </p:txBody>
      </p:sp>
    </p:spTree>
    <p:extLst>
      <p:ext uri="{BB962C8B-B14F-4D97-AF65-F5344CB8AC3E}">
        <p14:creationId xmlns:p14="http://schemas.microsoft.com/office/powerpoint/2010/main" val="239847356"/>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43" name="Rectangle 42">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648049AD-9827-49E8-8BF5-32E175C8E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4" name="Straight Connector 23">
              <a:extLst>
                <a:ext uri="{FF2B5EF4-FFF2-40B4-BE49-F238E27FC236}">
                  <a16:creationId xmlns:a16="http://schemas.microsoft.com/office/drawing/2014/main" id="{3AA99CFD-13BA-4D43-8274-E720ACDBED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946D58D6-64B0-4752-8159-24114F47A5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C16801F7-F15E-4355-8767-26487BA8B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46" name="Rectangle 25">
              <a:extLst>
                <a:ext uri="{FF2B5EF4-FFF2-40B4-BE49-F238E27FC236}">
                  <a16:creationId xmlns:a16="http://schemas.microsoft.com/office/drawing/2014/main" id="{14FF0578-E224-4225-8396-B99D4881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a:extLst>
                <a:ext uri="{FF2B5EF4-FFF2-40B4-BE49-F238E27FC236}">
                  <a16:creationId xmlns:a16="http://schemas.microsoft.com/office/drawing/2014/main" id="{4642C0E0-9644-41F1-8CF3-33779AA8A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47" name="Rectangle 27">
              <a:extLst>
                <a:ext uri="{FF2B5EF4-FFF2-40B4-BE49-F238E27FC236}">
                  <a16:creationId xmlns:a16="http://schemas.microsoft.com/office/drawing/2014/main" id="{5F77D9D3-628A-4607-B307-91AAA5603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8">
              <a:extLst>
                <a:ext uri="{FF2B5EF4-FFF2-40B4-BE49-F238E27FC236}">
                  <a16:creationId xmlns:a16="http://schemas.microsoft.com/office/drawing/2014/main" id="{0600759E-C22E-4F3D-8569-0DE8F1D4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8" name="Rectangle 29">
              <a:extLst>
                <a:ext uri="{FF2B5EF4-FFF2-40B4-BE49-F238E27FC236}">
                  <a16:creationId xmlns:a16="http://schemas.microsoft.com/office/drawing/2014/main" id="{9A4E951D-EAB0-4F6B-84AE-B5B25684F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Isosceles Triangle 31">
              <a:extLst>
                <a:ext uri="{FF2B5EF4-FFF2-40B4-BE49-F238E27FC236}">
                  <a16:creationId xmlns:a16="http://schemas.microsoft.com/office/drawing/2014/main" id="{B953BEA8-1B45-419E-BACD-49DB8888B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49" name="Isosceles Triangle 48">
              <a:extLst>
                <a:ext uri="{FF2B5EF4-FFF2-40B4-BE49-F238E27FC236}">
                  <a16:creationId xmlns:a16="http://schemas.microsoft.com/office/drawing/2014/main" id="{72B7FA08-1FF3-4AED-B4E9-587D81D6B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extBox 1">
            <a:extLst>
              <a:ext uri="{FF2B5EF4-FFF2-40B4-BE49-F238E27FC236}">
                <a16:creationId xmlns:a16="http://schemas.microsoft.com/office/drawing/2014/main" id="{5B4E0E50-F05D-AC28-CDC8-C0B75AE2487D}"/>
              </a:ext>
            </a:extLst>
          </p:cNvPr>
          <p:cNvSpPr txBox="1"/>
          <p:nvPr/>
        </p:nvSpPr>
        <p:spPr>
          <a:xfrm>
            <a:off x="621305" y="289207"/>
            <a:ext cx="8977668" cy="6189184"/>
          </a:xfrm>
          <a:prstGeom prst="rect">
            <a:avLst/>
          </a:prstGeom>
        </p:spPr>
        <p:txBody>
          <a:bodyPr vert="horz" lIns="91440" tIns="45720" rIns="91440" bIns="45720" rtlCol="0" anchor="t">
            <a:normAutofit/>
          </a:bodyPr>
          <a:lstStyle/>
          <a:p>
            <a:pPr>
              <a:lnSpc>
                <a:spcPct val="90000"/>
              </a:lnSpc>
              <a:spcBef>
                <a:spcPts val="1000"/>
              </a:spcBef>
              <a:buClr>
                <a:schemeClr val="accent1"/>
              </a:buClr>
              <a:buSzPct val="80000"/>
            </a:pPr>
            <a:r>
              <a:rPr lang="en-US" sz="2800" b="1" u="sng" dirty="0">
                <a:solidFill>
                  <a:schemeClr val="tx1">
                    <a:lumMod val="75000"/>
                    <a:lumOff val="25000"/>
                  </a:schemeClr>
                </a:solidFill>
              </a:rPr>
              <a:t>Proposed system:</a:t>
            </a:r>
            <a:endParaRPr lang="en-US"/>
          </a:p>
          <a:p>
            <a:pPr marL="342900" indent="-342900">
              <a:lnSpc>
                <a:spcPct val="90000"/>
              </a:lnSpc>
              <a:spcBef>
                <a:spcPts val="1000"/>
              </a:spcBef>
              <a:buClr>
                <a:schemeClr val="accent1"/>
              </a:buClr>
              <a:buSzPct val="80000"/>
              <a:buFont typeface="Wingdings" charset="2"/>
              <a:buChar char="Ø"/>
            </a:pPr>
            <a:r>
              <a:rPr lang="en-US" sz="2000" dirty="0">
                <a:solidFill>
                  <a:schemeClr val="accent1"/>
                </a:solidFill>
              </a:rPr>
              <a:t>The proposed system enables Private Data Centers (PDC) with Blockchain and AI technique to provide security to user's data. </a:t>
            </a:r>
          </a:p>
          <a:p>
            <a:pPr marL="342900" indent="-342900">
              <a:lnSpc>
                <a:spcPct val="90000"/>
              </a:lnSpc>
              <a:spcBef>
                <a:spcPts val="1000"/>
              </a:spcBef>
              <a:buClr>
                <a:schemeClr val="accent1"/>
              </a:buClr>
              <a:buSzPct val="80000"/>
              <a:buFont typeface="Wingdings" charset="2"/>
              <a:buChar char="Ø"/>
            </a:pPr>
            <a:r>
              <a:rPr lang="en-US" sz="2000" dirty="0">
                <a:solidFill>
                  <a:schemeClr val="accent1"/>
                </a:solidFill>
              </a:rPr>
              <a:t>Blockchain-based data sharing with ownership guarantee, which enables trusted data sharing and generates hash code (unique). data sharing and generates hash code (unique).</a:t>
            </a:r>
          </a:p>
          <a:p>
            <a:pPr>
              <a:lnSpc>
                <a:spcPct val="90000"/>
              </a:lnSpc>
              <a:spcBef>
                <a:spcPts val="1000"/>
              </a:spcBef>
              <a:buClr>
                <a:schemeClr val="accent1"/>
              </a:buClr>
              <a:buSzPct val="80000"/>
            </a:pPr>
            <a:endParaRPr lang="en-US" sz="2400" b="1" u="sng" dirty="0">
              <a:solidFill>
                <a:schemeClr val="tx1">
                  <a:lumMod val="75000"/>
                  <a:lumOff val="25000"/>
                </a:schemeClr>
              </a:solidFill>
            </a:endParaRPr>
          </a:p>
          <a:p>
            <a:pPr>
              <a:buClr>
                <a:schemeClr val="accent1"/>
              </a:buClr>
              <a:buSzPct val="80000"/>
            </a:pPr>
            <a:r>
              <a:rPr lang="en-US" sz="2400" b="1" dirty="0">
                <a:solidFill>
                  <a:schemeClr val="tx1">
                    <a:lumMod val="75000"/>
                    <a:lumOff val="25000"/>
                  </a:schemeClr>
                </a:solidFill>
              </a:rPr>
              <a:t> </a:t>
            </a:r>
            <a:r>
              <a:rPr lang="en-US" sz="2400" b="1" dirty="0">
                <a:solidFill>
                  <a:schemeClr val="tx1">
                    <a:lumMod val="75000"/>
                    <a:lumOff val="25000"/>
                  </a:schemeClr>
                </a:solidFill>
                <a:ea typeface="+mn-lt"/>
                <a:cs typeface="+mn-lt"/>
              </a:rPr>
              <a:t>   </a:t>
            </a:r>
            <a:endParaRPr lang="en-US" dirty="0">
              <a:solidFill>
                <a:schemeClr val="tx1">
                  <a:lumMod val="75000"/>
                  <a:lumOff val="25000"/>
                </a:schemeClr>
              </a:solidFill>
            </a:endParaRPr>
          </a:p>
        </p:txBody>
      </p:sp>
      <p:sp>
        <p:nvSpPr>
          <p:cNvPr id="5" name="TextBox 4">
            <a:extLst>
              <a:ext uri="{FF2B5EF4-FFF2-40B4-BE49-F238E27FC236}">
                <a16:creationId xmlns:a16="http://schemas.microsoft.com/office/drawing/2014/main" id="{0E3F70DF-EB6E-774D-5EB2-D96AD5E2F6AB}"/>
              </a:ext>
            </a:extLst>
          </p:cNvPr>
          <p:cNvSpPr txBox="1"/>
          <p:nvPr/>
        </p:nvSpPr>
        <p:spPr>
          <a:xfrm>
            <a:off x="913278" y="2944347"/>
            <a:ext cx="728158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b="1" dirty="0">
                <a:solidFill>
                  <a:schemeClr val="tx1">
                    <a:lumMod val="75000"/>
                    <a:lumOff val="25000"/>
                  </a:schemeClr>
                </a:solidFill>
              </a:rPr>
              <a:t>Enhanced Data Ownership and Control:</a:t>
            </a:r>
            <a:endParaRPr lang="en-US" sz="2000">
              <a:solidFill>
                <a:schemeClr val="tx1">
                  <a:lumMod val="75000"/>
                  <a:lumOff val="25000"/>
                </a:schemeClr>
              </a:solidFill>
            </a:endParaRPr>
          </a:p>
          <a:p>
            <a:endParaRPr lang="en-US" sz="2000">
              <a:solidFill>
                <a:schemeClr val="tx1">
                  <a:lumMod val="75000"/>
                  <a:lumOff val="25000"/>
                </a:schemeClr>
              </a:solidFill>
            </a:endParaRPr>
          </a:p>
        </p:txBody>
      </p:sp>
      <p:sp>
        <p:nvSpPr>
          <p:cNvPr id="6" name="TextBox 5">
            <a:extLst>
              <a:ext uri="{FF2B5EF4-FFF2-40B4-BE49-F238E27FC236}">
                <a16:creationId xmlns:a16="http://schemas.microsoft.com/office/drawing/2014/main" id="{435AD863-3139-9EB2-336E-0BE0B17C1A0C}"/>
              </a:ext>
            </a:extLst>
          </p:cNvPr>
          <p:cNvSpPr txBox="1"/>
          <p:nvPr/>
        </p:nvSpPr>
        <p:spPr>
          <a:xfrm>
            <a:off x="899272" y="4165786"/>
            <a:ext cx="8480611"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dirty="0">
              <a:solidFill>
                <a:schemeClr val="tx1">
                  <a:lumMod val="75000"/>
                  <a:lumOff val="25000"/>
                </a:schemeClr>
              </a:solidFill>
            </a:endParaRPr>
          </a:p>
          <a:p>
            <a:pPr marL="342900" indent="-342900">
              <a:buFont typeface="Arial"/>
              <a:buChar char="•"/>
            </a:pPr>
            <a:r>
              <a:rPr lang="en-US" sz="2000" b="1" dirty="0">
                <a:solidFill>
                  <a:schemeClr val="tx1">
                    <a:lumMod val="75000"/>
                    <a:lumOff val="25000"/>
                  </a:schemeClr>
                </a:solidFill>
              </a:rPr>
              <a:t>Improved Data Security and Trust:</a:t>
            </a:r>
            <a:r>
              <a:rPr lang="en-US" sz="2000" dirty="0">
                <a:solidFill>
                  <a:schemeClr val="accent1"/>
                </a:solidFill>
              </a:rPr>
              <a:t> </a:t>
            </a:r>
          </a:p>
          <a:p>
            <a:endParaRPr lang="en-US" sz="2000" dirty="0">
              <a:solidFill>
                <a:schemeClr val="accent1"/>
              </a:solidFill>
            </a:endParaRPr>
          </a:p>
          <a:p>
            <a:r>
              <a:rPr lang="en-US" sz="2000" dirty="0">
                <a:solidFill>
                  <a:schemeClr val="accent1"/>
                </a:solidFill>
              </a:rPr>
              <a:t>    </a:t>
            </a:r>
          </a:p>
        </p:txBody>
      </p:sp>
      <p:sp>
        <p:nvSpPr>
          <p:cNvPr id="7" name="TextBox 6">
            <a:extLst>
              <a:ext uri="{FF2B5EF4-FFF2-40B4-BE49-F238E27FC236}">
                <a16:creationId xmlns:a16="http://schemas.microsoft.com/office/drawing/2014/main" id="{ACDE184E-E84C-67BC-CC34-3711A200F3EC}"/>
              </a:ext>
            </a:extLst>
          </p:cNvPr>
          <p:cNvSpPr txBox="1"/>
          <p:nvPr/>
        </p:nvSpPr>
        <p:spPr>
          <a:xfrm>
            <a:off x="899272" y="2490507"/>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dirty="0">
                <a:solidFill>
                  <a:schemeClr val="tx1">
                    <a:lumMod val="75000"/>
                    <a:lumOff val="25000"/>
                  </a:schemeClr>
                </a:solidFill>
              </a:rPr>
              <a:t>Advantages :</a:t>
            </a:r>
            <a:endParaRPr lang="en-US" dirty="0">
              <a:solidFill>
                <a:schemeClr val="tx1">
                  <a:lumMod val="75000"/>
                  <a:lumOff val="25000"/>
                </a:schemeClr>
              </a:solidFill>
            </a:endParaRPr>
          </a:p>
        </p:txBody>
      </p:sp>
      <p:sp>
        <p:nvSpPr>
          <p:cNvPr id="3" name="TextBox 2">
            <a:extLst>
              <a:ext uri="{FF2B5EF4-FFF2-40B4-BE49-F238E27FC236}">
                <a16:creationId xmlns:a16="http://schemas.microsoft.com/office/drawing/2014/main" id="{EF023035-A99E-39A5-7469-2E63347BECD5}"/>
              </a:ext>
            </a:extLst>
          </p:cNvPr>
          <p:cNvSpPr txBox="1"/>
          <p:nvPr/>
        </p:nvSpPr>
        <p:spPr>
          <a:xfrm>
            <a:off x="1372721" y="3378572"/>
            <a:ext cx="8805579"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AutoNum type="arabicPeriod"/>
            </a:pPr>
            <a:r>
              <a:rPr lang="en-US" sz="2000" dirty="0">
                <a:solidFill>
                  <a:schemeClr val="accent1"/>
                </a:solidFill>
              </a:rPr>
              <a:t>Blockchain technology ensures users retain ownership of their data.</a:t>
            </a:r>
            <a:endParaRPr lang="en-US" sz="2000" dirty="0">
              <a:solidFill>
                <a:srgbClr val="000000"/>
              </a:solidFill>
            </a:endParaRPr>
          </a:p>
          <a:p>
            <a:pPr marL="457200" indent="-457200">
              <a:buAutoNum type="arabicPeriod"/>
            </a:pPr>
            <a:r>
              <a:rPr lang="en-US" sz="2000">
                <a:solidFill>
                  <a:schemeClr val="accent1"/>
                </a:solidFill>
              </a:rPr>
              <a:t>Users define who can access their data, granting granular control over access permissions.</a:t>
            </a:r>
            <a:endParaRPr lang="en-US" sz="2000"/>
          </a:p>
          <a:p>
            <a:endParaRPr lang="en-US" dirty="0"/>
          </a:p>
          <a:p>
            <a:pPr algn="l"/>
            <a:endParaRPr lang="en-US" dirty="0"/>
          </a:p>
        </p:txBody>
      </p:sp>
      <p:sp>
        <p:nvSpPr>
          <p:cNvPr id="8" name="TextBox 7">
            <a:extLst>
              <a:ext uri="{FF2B5EF4-FFF2-40B4-BE49-F238E27FC236}">
                <a16:creationId xmlns:a16="http://schemas.microsoft.com/office/drawing/2014/main" id="{AE0B6815-4453-65E2-D4FD-2308023F5A3C}"/>
              </a:ext>
            </a:extLst>
          </p:cNvPr>
          <p:cNvSpPr txBox="1"/>
          <p:nvPr/>
        </p:nvSpPr>
        <p:spPr>
          <a:xfrm>
            <a:off x="1375522" y="4964204"/>
            <a:ext cx="9007285" cy="2185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AutoNum type="arabicPeriod"/>
            </a:pPr>
            <a:r>
              <a:rPr lang="en-US" sz="2000" dirty="0">
                <a:solidFill>
                  <a:schemeClr val="accent1"/>
                </a:solidFill>
              </a:rPr>
              <a:t>Blockchain provides a tamper-proof ledger, </a:t>
            </a:r>
            <a:r>
              <a:rPr lang="en-US" sz="2000" err="1">
                <a:solidFill>
                  <a:schemeClr val="accent1"/>
                </a:solidFill>
              </a:rPr>
              <a:t>guaranteeingdata</a:t>
            </a:r>
            <a:r>
              <a:rPr lang="en-US" sz="2000" dirty="0">
                <a:solidFill>
                  <a:schemeClr val="accent1"/>
                </a:solidFill>
              </a:rPr>
              <a:t> integrity and preventing unauthorized modifications.</a:t>
            </a:r>
            <a:endParaRPr lang="en-US">
              <a:solidFill>
                <a:schemeClr val="accent1"/>
              </a:solidFill>
            </a:endParaRPr>
          </a:p>
          <a:p>
            <a:pPr marL="457200" indent="-457200">
              <a:buAutoNum type="arabicPeriod"/>
            </a:pPr>
            <a:r>
              <a:rPr lang="en-US" sz="2000" dirty="0">
                <a:solidFill>
                  <a:schemeClr val="accent1"/>
                </a:solidFill>
              </a:rPr>
              <a:t>Trust in the system is established through secure data  sharing mechanisms.</a:t>
            </a:r>
          </a:p>
          <a:p>
            <a:endParaRPr lang="en-US" dirty="0">
              <a:solidFill>
                <a:srgbClr val="FFFFFF"/>
              </a:solidFill>
            </a:endParaRPr>
          </a:p>
          <a:p>
            <a:pPr algn="l"/>
            <a:endParaRPr lang="en-US" sz="2000" dirty="0">
              <a:solidFill>
                <a:schemeClr val="accent1"/>
              </a:solidFill>
            </a:endParaRPr>
          </a:p>
          <a:p>
            <a:endParaRPr lang="en-US" dirty="0"/>
          </a:p>
        </p:txBody>
      </p:sp>
    </p:spTree>
    <p:extLst>
      <p:ext uri="{BB962C8B-B14F-4D97-AF65-F5344CB8AC3E}">
        <p14:creationId xmlns:p14="http://schemas.microsoft.com/office/powerpoint/2010/main" val="1605997820"/>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 name="Straight Connector 7">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Isosceles Triangle 11">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Isosceles Triangle 15">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19" name="Rectangle 18">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648049AD-9827-49E8-8BF5-32E175C8E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2" name="Straight Connector 21">
              <a:extLst>
                <a:ext uri="{FF2B5EF4-FFF2-40B4-BE49-F238E27FC236}">
                  <a16:creationId xmlns:a16="http://schemas.microsoft.com/office/drawing/2014/main" id="{3AA99CFD-13BA-4D43-8274-E720ACDBED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46D58D6-64B0-4752-8159-24114F47A5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C16801F7-F15E-4355-8767-26487BA8B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5">
              <a:extLst>
                <a:ext uri="{FF2B5EF4-FFF2-40B4-BE49-F238E27FC236}">
                  <a16:creationId xmlns:a16="http://schemas.microsoft.com/office/drawing/2014/main" id="{14FF0578-E224-4225-8396-B99D4881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Isosceles Triangle 25">
              <a:extLst>
                <a:ext uri="{FF2B5EF4-FFF2-40B4-BE49-F238E27FC236}">
                  <a16:creationId xmlns:a16="http://schemas.microsoft.com/office/drawing/2014/main" id="{4642C0E0-9644-41F1-8CF3-33779AA8A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7">
              <a:extLst>
                <a:ext uri="{FF2B5EF4-FFF2-40B4-BE49-F238E27FC236}">
                  <a16:creationId xmlns:a16="http://schemas.microsoft.com/office/drawing/2014/main" id="{5F77D9D3-628A-4607-B307-91AAA5603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8">
              <a:extLst>
                <a:ext uri="{FF2B5EF4-FFF2-40B4-BE49-F238E27FC236}">
                  <a16:creationId xmlns:a16="http://schemas.microsoft.com/office/drawing/2014/main" id="{0600759E-C22E-4F3D-8569-0DE8F1D4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9">
              <a:extLst>
                <a:ext uri="{FF2B5EF4-FFF2-40B4-BE49-F238E27FC236}">
                  <a16:creationId xmlns:a16="http://schemas.microsoft.com/office/drawing/2014/main" id="{9A4E951D-EAB0-4F6B-84AE-B5B25684F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Isosceles Triangle 29">
              <a:extLst>
                <a:ext uri="{FF2B5EF4-FFF2-40B4-BE49-F238E27FC236}">
                  <a16:creationId xmlns:a16="http://schemas.microsoft.com/office/drawing/2014/main" id="{B953BEA8-1B45-419E-BACD-49DB8888B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a:extLst>
                <a:ext uri="{FF2B5EF4-FFF2-40B4-BE49-F238E27FC236}">
                  <a16:creationId xmlns:a16="http://schemas.microsoft.com/office/drawing/2014/main" id="{72B7FA08-1FF3-4AED-B4E9-587D81D6B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extBox 1">
            <a:extLst>
              <a:ext uri="{FF2B5EF4-FFF2-40B4-BE49-F238E27FC236}">
                <a16:creationId xmlns:a16="http://schemas.microsoft.com/office/drawing/2014/main" id="{F4111D68-A987-D360-5314-B7988D5E668A}"/>
              </a:ext>
            </a:extLst>
          </p:cNvPr>
          <p:cNvSpPr txBox="1"/>
          <p:nvPr/>
        </p:nvSpPr>
        <p:spPr>
          <a:xfrm>
            <a:off x="610098" y="423677"/>
            <a:ext cx="8596668" cy="3880773"/>
          </a:xfrm>
          <a:prstGeom prst="rect">
            <a:avLst/>
          </a:prstGeom>
        </p:spPr>
        <p:txBody>
          <a:bodyPr vert="horz" lIns="91440" tIns="45720" rIns="91440" bIns="45720" rtlCol="0" anchor="t">
            <a:noAutofit/>
          </a:bodyPr>
          <a:lstStyle/>
          <a:p>
            <a:pPr marL="74930">
              <a:lnSpc>
                <a:spcPct val="90000"/>
              </a:lnSpc>
              <a:spcBef>
                <a:spcPts val="1000"/>
              </a:spcBef>
              <a:buClr>
                <a:schemeClr val="accent1"/>
              </a:buClr>
              <a:buSzPct val="80000"/>
            </a:pPr>
            <a:r>
              <a:rPr lang="en-US" sz="2400" b="1" u="sng" dirty="0">
                <a:solidFill>
                  <a:schemeClr val="tx1">
                    <a:lumMod val="75000"/>
                    <a:lumOff val="25000"/>
                  </a:schemeClr>
                </a:solidFill>
                <a:effectLst/>
              </a:rPr>
              <a:t>SOFTWARE</a:t>
            </a:r>
            <a:r>
              <a:rPr lang="en-US" sz="2400" b="1" u="sng" spc="235" dirty="0">
                <a:solidFill>
                  <a:schemeClr val="tx1">
                    <a:lumMod val="75000"/>
                    <a:lumOff val="25000"/>
                  </a:schemeClr>
                </a:solidFill>
                <a:effectLst/>
              </a:rPr>
              <a:t> </a:t>
            </a:r>
            <a:r>
              <a:rPr lang="en-US" sz="2400" b="1" u="sng" dirty="0">
                <a:solidFill>
                  <a:schemeClr val="tx1">
                    <a:lumMod val="75000"/>
                    <a:lumOff val="25000"/>
                  </a:schemeClr>
                </a:solidFill>
                <a:effectLst/>
              </a:rPr>
              <a:t>REQUIREMTS</a:t>
            </a:r>
            <a:r>
              <a:rPr lang="en-US" sz="2400" b="1" u="sng" dirty="0">
                <a:solidFill>
                  <a:schemeClr val="tx1">
                    <a:lumMod val="75000"/>
                    <a:lumOff val="25000"/>
                  </a:schemeClr>
                </a:solidFill>
              </a:rPr>
              <a:t>:</a:t>
            </a:r>
            <a:endParaRPr lang="en-US" sz="2400" u="sng" dirty="0">
              <a:solidFill>
                <a:schemeClr val="tx1">
                  <a:lumMod val="75000"/>
                  <a:lumOff val="25000"/>
                </a:schemeClr>
              </a:solidFill>
              <a:effectLst/>
            </a:endParaRPr>
          </a:p>
          <a:p>
            <a:pPr marL="342900" indent="-342900">
              <a:lnSpc>
                <a:spcPct val="90000"/>
              </a:lnSpc>
              <a:spcBef>
                <a:spcPts val="1000"/>
              </a:spcBef>
              <a:buClr>
                <a:schemeClr val="accent1"/>
              </a:buClr>
              <a:buSzPct val="80000"/>
              <a:buFont typeface="Arial" charset="2"/>
              <a:buChar char="•"/>
              <a:tabLst>
                <a:tab pos="724535" algn="l"/>
                <a:tab pos="725170" algn="l"/>
              </a:tabLst>
            </a:pPr>
            <a:r>
              <a:rPr lang="en-US">
                <a:solidFill>
                  <a:schemeClr val="accent1"/>
                </a:solidFill>
                <a:ea typeface="+mn-lt"/>
                <a:cs typeface="+mn-lt"/>
              </a:rPr>
              <a:t> IDE: PyCharm</a:t>
            </a:r>
          </a:p>
          <a:p>
            <a:pPr marL="342900" indent="-342900">
              <a:lnSpc>
                <a:spcPct val="90000"/>
              </a:lnSpc>
              <a:spcBef>
                <a:spcPts val="1000"/>
              </a:spcBef>
              <a:buClr>
                <a:schemeClr val="accent1"/>
              </a:buClr>
              <a:buSzPct val="80000"/>
              <a:buFont typeface="Arial" charset="2"/>
              <a:buChar char="•"/>
              <a:tabLst>
                <a:tab pos="724535" algn="l"/>
                <a:tab pos="725170" algn="l"/>
              </a:tabLst>
            </a:pPr>
            <a:r>
              <a:rPr lang="en-US" dirty="0">
                <a:solidFill>
                  <a:schemeClr val="accent1"/>
                </a:solidFill>
                <a:ea typeface="+mn-lt"/>
                <a:cs typeface="+mn-lt"/>
              </a:rPr>
              <a:t> Front End: Html, CSS, JS </a:t>
            </a:r>
          </a:p>
          <a:p>
            <a:pPr marL="342900" indent="-342900">
              <a:lnSpc>
                <a:spcPct val="90000"/>
              </a:lnSpc>
              <a:spcBef>
                <a:spcPts val="1000"/>
              </a:spcBef>
              <a:buClr>
                <a:schemeClr val="accent1"/>
              </a:buClr>
              <a:buSzPct val="80000"/>
              <a:buFont typeface="Arial" charset="2"/>
              <a:buChar char="•"/>
              <a:tabLst>
                <a:tab pos="724535" algn="l"/>
                <a:tab pos="725170" algn="l"/>
              </a:tabLst>
            </a:pPr>
            <a:r>
              <a:rPr lang="en-US" dirty="0">
                <a:solidFill>
                  <a:schemeClr val="accent1"/>
                </a:solidFill>
                <a:ea typeface="+mn-lt"/>
                <a:cs typeface="+mn-lt"/>
              </a:rPr>
              <a:t> Back End: MySQL Server </a:t>
            </a:r>
          </a:p>
          <a:p>
            <a:pPr marL="342900" indent="-342900">
              <a:lnSpc>
                <a:spcPct val="90000"/>
              </a:lnSpc>
              <a:spcBef>
                <a:spcPts val="1000"/>
              </a:spcBef>
              <a:buClr>
                <a:schemeClr val="accent1"/>
              </a:buClr>
              <a:buSzPct val="80000"/>
              <a:buFont typeface="Arial" charset="2"/>
              <a:buChar char="•"/>
              <a:tabLst>
                <a:tab pos="724535" algn="l"/>
                <a:tab pos="725170" algn="l"/>
              </a:tabLst>
            </a:pPr>
            <a:r>
              <a:rPr lang="en-US" dirty="0">
                <a:solidFill>
                  <a:schemeClr val="accent1"/>
                </a:solidFill>
                <a:ea typeface="+mn-lt"/>
                <a:cs typeface="+mn-lt"/>
              </a:rPr>
              <a:t> Operating System: Window 7/Window 10 </a:t>
            </a:r>
          </a:p>
          <a:p>
            <a:pPr marL="342900" indent="-342900">
              <a:lnSpc>
                <a:spcPct val="90000"/>
              </a:lnSpc>
              <a:spcBef>
                <a:spcPts val="1000"/>
              </a:spcBef>
              <a:buClr>
                <a:schemeClr val="accent1"/>
              </a:buClr>
              <a:buSzPct val="80000"/>
              <a:buFont typeface="Arial" charset="2"/>
              <a:buChar char="•"/>
              <a:tabLst>
                <a:tab pos="724535" algn="l"/>
                <a:tab pos="725170" algn="l"/>
              </a:tabLst>
            </a:pPr>
            <a:r>
              <a:rPr lang="en-US" dirty="0">
                <a:solidFill>
                  <a:schemeClr val="accent1"/>
                </a:solidFill>
                <a:ea typeface="+mn-lt"/>
                <a:cs typeface="+mn-lt"/>
              </a:rPr>
              <a:t> Programming Language: Python </a:t>
            </a:r>
            <a:r>
              <a:rPr lang="en-US" b="1" dirty="0">
                <a:solidFill>
                  <a:schemeClr val="tx1">
                    <a:lumMod val="75000"/>
                    <a:lumOff val="25000"/>
                  </a:schemeClr>
                </a:solidFill>
              </a:rPr>
              <a:t> </a:t>
            </a:r>
            <a:r>
              <a:rPr lang="en-US" sz="2000" b="1" dirty="0">
                <a:solidFill>
                  <a:schemeClr val="tx1">
                    <a:lumMod val="75000"/>
                    <a:lumOff val="25000"/>
                  </a:schemeClr>
                </a:solidFill>
              </a:rPr>
              <a:t>  </a:t>
            </a:r>
            <a:r>
              <a:rPr lang="en-US" sz="1600" b="1" dirty="0">
                <a:solidFill>
                  <a:schemeClr val="tx1">
                    <a:lumMod val="75000"/>
                    <a:lumOff val="25000"/>
                  </a:schemeClr>
                </a:solidFill>
              </a:rPr>
              <a:t> 						</a:t>
            </a:r>
            <a:endParaRPr lang="en-US" sz="2800" u="sng">
              <a:solidFill>
                <a:schemeClr val="tx1">
                  <a:lumMod val="75000"/>
                  <a:lumOff val="25000"/>
                </a:schemeClr>
              </a:solidFill>
            </a:endParaRPr>
          </a:p>
          <a:p>
            <a:pPr>
              <a:tabLst>
                <a:tab pos="724535" algn="l"/>
                <a:tab pos="725170" algn="l"/>
              </a:tabLst>
            </a:pPr>
            <a:r>
              <a:rPr lang="en-US" sz="2400" b="1" u="sng" dirty="0">
                <a:solidFill>
                  <a:schemeClr val="tx1">
                    <a:lumMod val="75000"/>
                    <a:lumOff val="25000"/>
                  </a:schemeClr>
                </a:solidFill>
              </a:rPr>
              <a:t>HARDWARE REQUREMENTS:</a:t>
            </a:r>
            <a:endParaRPr lang="en-US" sz="2400">
              <a:solidFill>
                <a:schemeClr val="tx1">
                  <a:lumMod val="75000"/>
                  <a:lumOff val="25000"/>
                </a:schemeClr>
              </a:solidFill>
            </a:endParaRPr>
          </a:p>
          <a:p>
            <a:pPr>
              <a:lnSpc>
                <a:spcPct val="90000"/>
              </a:lnSpc>
              <a:spcBef>
                <a:spcPts val="1000"/>
              </a:spcBef>
              <a:tabLst>
                <a:tab pos="724535" algn="l"/>
                <a:tab pos="725170" algn="l"/>
              </a:tabLst>
            </a:pPr>
            <a:endParaRPr lang="en-US" sz="2000" dirty="0">
              <a:solidFill>
                <a:schemeClr val="tx1">
                  <a:lumMod val="75000"/>
                  <a:lumOff val="25000"/>
                </a:schemeClr>
              </a:solidFill>
              <a:ea typeface="+mn-lt"/>
              <a:cs typeface="+mn-lt"/>
            </a:endParaRPr>
          </a:p>
          <a:p>
            <a:pPr marL="285750" indent="-285750">
              <a:lnSpc>
                <a:spcPct val="90000"/>
              </a:lnSpc>
              <a:spcBef>
                <a:spcPts val="1000"/>
              </a:spcBef>
              <a:buFont typeface="Arial"/>
              <a:buChar char="•"/>
              <a:tabLst>
                <a:tab pos="724535" algn="l"/>
                <a:tab pos="725170" algn="l"/>
              </a:tabLst>
            </a:pPr>
            <a:r>
              <a:rPr lang="en-US" dirty="0">
                <a:solidFill>
                  <a:schemeClr val="accent1"/>
                </a:solidFill>
                <a:ea typeface="+mn-lt"/>
                <a:cs typeface="+mn-lt"/>
              </a:rPr>
              <a:t>  Intel ® Core i3 CPU 3.0 GHz or above </a:t>
            </a:r>
          </a:p>
          <a:p>
            <a:pPr marL="285750" indent="-285750">
              <a:lnSpc>
                <a:spcPct val="90000"/>
              </a:lnSpc>
              <a:spcBef>
                <a:spcPts val="1000"/>
              </a:spcBef>
              <a:buFont typeface="Arial"/>
              <a:buChar char="•"/>
              <a:tabLst>
                <a:tab pos="724535" algn="l"/>
                <a:tab pos="725170" algn="l"/>
              </a:tabLst>
            </a:pPr>
            <a:r>
              <a:rPr lang="en-US" dirty="0">
                <a:solidFill>
                  <a:schemeClr val="accent1"/>
                </a:solidFill>
                <a:ea typeface="+mn-lt"/>
                <a:cs typeface="+mn-lt"/>
              </a:rPr>
              <a:t> 4GMRAM </a:t>
            </a:r>
          </a:p>
          <a:p>
            <a:pPr marL="285750" indent="-285750">
              <a:lnSpc>
                <a:spcPct val="90000"/>
              </a:lnSpc>
              <a:spcBef>
                <a:spcPts val="1000"/>
              </a:spcBef>
              <a:buFont typeface="Arial"/>
              <a:buChar char="•"/>
              <a:tabLst>
                <a:tab pos="724535" algn="l"/>
                <a:tab pos="725170" algn="l"/>
              </a:tabLst>
            </a:pPr>
            <a:r>
              <a:rPr lang="en-US" dirty="0">
                <a:solidFill>
                  <a:schemeClr val="accent1"/>
                </a:solidFill>
                <a:ea typeface="+mn-lt"/>
                <a:cs typeface="+mn-lt"/>
              </a:rPr>
              <a:t> 500GB Hard Disk Drive (HDD) + 24GB Solid State Drive(SSD) </a:t>
            </a:r>
          </a:p>
          <a:p>
            <a:pPr marL="285750" indent="-285750">
              <a:lnSpc>
                <a:spcPct val="90000"/>
              </a:lnSpc>
              <a:spcBef>
                <a:spcPts val="1000"/>
              </a:spcBef>
              <a:buFont typeface="Arial"/>
              <a:buChar char="•"/>
              <a:tabLst>
                <a:tab pos="724535" algn="l"/>
                <a:tab pos="725170" algn="l"/>
              </a:tabLst>
            </a:pPr>
            <a:r>
              <a:rPr lang="en-US" dirty="0">
                <a:solidFill>
                  <a:schemeClr val="accent1"/>
                </a:solidFill>
                <a:ea typeface="+mn-lt"/>
                <a:cs typeface="+mn-lt"/>
              </a:rPr>
              <a:t>Monitor </a:t>
            </a:r>
          </a:p>
          <a:p>
            <a:pPr>
              <a:lnSpc>
                <a:spcPct val="90000"/>
              </a:lnSpc>
              <a:spcBef>
                <a:spcPts val="1000"/>
              </a:spcBef>
              <a:tabLst>
                <a:tab pos="724535" algn="l"/>
                <a:tab pos="725170" algn="l"/>
              </a:tabLst>
            </a:pPr>
            <a:endParaRPr lang="en-US" dirty="0">
              <a:solidFill>
                <a:schemeClr val="accent1"/>
              </a:solidFill>
            </a:endParaRPr>
          </a:p>
          <a:p>
            <a:pPr>
              <a:lnSpc>
                <a:spcPct val="90000"/>
              </a:lnSpc>
              <a:spcBef>
                <a:spcPts val="1000"/>
              </a:spcBef>
              <a:tabLst>
                <a:tab pos="724535" algn="l"/>
                <a:tab pos="725170" algn="l"/>
              </a:tabLst>
            </a:pPr>
            <a:r>
              <a:rPr lang="en-US" dirty="0">
                <a:solidFill>
                  <a:schemeClr val="accent1"/>
                </a:solidFill>
                <a:ea typeface="+mn-lt"/>
                <a:cs typeface="+mn-lt"/>
              </a:rPr>
              <a:t>Processor: Intel Atom® Processor Z2520 1.2 GHz, or faster processor Storage: Between 850 MB and 1.2 GB, depending on the language version  RAM: Minimum of 512 MB, 2 GB is recommended  Hard Disk: 2GB of available hard-disk space for installation; extra free space is required during installation.</a:t>
            </a:r>
            <a:endParaRPr lang="en-US">
              <a:solidFill>
                <a:schemeClr val="accent1"/>
              </a:solidFill>
            </a:endParaRPr>
          </a:p>
          <a:p>
            <a:pPr marL="342900" indent="-342900">
              <a:lnSpc>
                <a:spcPct val="90000"/>
              </a:lnSpc>
              <a:spcBef>
                <a:spcPts val="1000"/>
              </a:spcBef>
              <a:buClr>
                <a:schemeClr val="accent1"/>
              </a:buClr>
              <a:buSzPct val="80000"/>
              <a:buFont typeface="Arial" charset="2"/>
              <a:buChar char="•"/>
              <a:tabLst>
                <a:tab pos="724535" algn="l"/>
                <a:tab pos="725170" algn="l"/>
              </a:tabLst>
            </a:pPr>
            <a:endParaRPr lang="en-US" sz="1600" dirty="0">
              <a:solidFill>
                <a:schemeClr val="tx1">
                  <a:lumMod val="75000"/>
                  <a:lumOff val="25000"/>
                </a:schemeClr>
              </a:solidFill>
              <a:effectLst/>
            </a:endParaRPr>
          </a:p>
          <a:p>
            <a:pPr>
              <a:lnSpc>
                <a:spcPct val="90000"/>
              </a:lnSpc>
              <a:spcBef>
                <a:spcPts val="1000"/>
              </a:spcBef>
              <a:buClr>
                <a:schemeClr val="accent1"/>
              </a:buClr>
              <a:buSzPct val="80000"/>
              <a:buFont typeface="Arial" charset="2"/>
              <a:buChar char="•"/>
              <a:tabLst>
                <a:tab pos="596900" algn="l"/>
                <a:tab pos="597535" algn="l"/>
              </a:tabLst>
            </a:pPr>
            <a:endParaRPr lang="en-US" sz="1600" b="1" u="sng" dirty="0">
              <a:solidFill>
                <a:schemeClr val="tx1">
                  <a:lumMod val="75000"/>
                  <a:lumOff val="25000"/>
                </a:schemeClr>
              </a:solidFill>
            </a:endParaRPr>
          </a:p>
          <a:p>
            <a:pPr lvl="0">
              <a:lnSpc>
                <a:spcPct val="90000"/>
              </a:lnSpc>
              <a:spcBef>
                <a:spcPts val="1000"/>
              </a:spcBef>
              <a:buClr>
                <a:schemeClr val="accent1"/>
              </a:buClr>
              <a:buSzPct val="80000"/>
              <a:buFont typeface="Arial" charset="2"/>
              <a:buChar char="•"/>
              <a:tabLst>
                <a:tab pos="596900" algn="l"/>
                <a:tab pos="597535" algn="l"/>
              </a:tabLst>
            </a:pPr>
            <a:endParaRPr lang="en-US" sz="700" b="1" u="sng">
              <a:solidFill>
                <a:schemeClr val="tx1">
                  <a:lumMod val="75000"/>
                  <a:lumOff val="25000"/>
                </a:schemeClr>
              </a:solidFill>
              <a:effectLst/>
            </a:endParaRPr>
          </a:p>
          <a:p>
            <a:pPr>
              <a:lnSpc>
                <a:spcPct val="90000"/>
              </a:lnSpc>
              <a:spcBef>
                <a:spcPts val="1000"/>
              </a:spcBef>
              <a:buClr>
                <a:schemeClr val="accent1"/>
              </a:buClr>
              <a:buSzPct val="80000"/>
              <a:buFont typeface="Arial" charset="2"/>
              <a:buChar char="•"/>
            </a:pPr>
            <a:endParaRPr lang="en-US" sz="700">
              <a:solidFill>
                <a:schemeClr val="tx1">
                  <a:lumMod val="75000"/>
                  <a:lumOff val="25000"/>
                </a:schemeClr>
              </a:solidFill>
            </a:endParaRPr>
          </a:p>
        </p:txBody>
      </p:sp>
      <p:sp>
        <p:nvSpPr>
          <p:cNvPr id="3" name="TextBox 2">
            <a:extLst>
              <a:ext uri="{FF2B5EF4-FFF2-40B4-BE49-F238E27FC236}">
                <a16:creationId xmlns:a16="http://schemas.microsoft.com/office/drawing/2014/main" id="{0DCD51C9-4946-DADA-0867-0EA0FA8C7CE5}"/>
              </a:ext>
            </a:extLst>
          </p:cNvPr>
          <p:cNvSpPr txBox="1"/>
          <p:nvPr/>
        </p:nvSpPr>
        <p:spPr>
          <a:xfrm>
            <a:off x="610720" y="3227293"/>
            <a:ext cx="453614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sz="2000" dirty="0">
                <a:solidFill>
                  <a:schemeClr val="tx1">
                    <a:lumMod val="75000"/>
                    <a:lumOff val="25000"/>
                  </a:schemeClr>
                </a:solidFill>
              </a:rPr>
              <a:t>Developing Time Requirements</a:t>
            </a:r>
            <a:endParaRPr lang="en-US" dirty="0">
              <a:solidFill>
                <a:schemeClr val="tx1">
                  <a:lumMod val="75000"/>
                  <a:lumOff val="25000"/>
                </a:schemeClr>
              </a:solidFill>
            </a:endParaRPr>
          </a:p>
        </p:txBody>
      </p:sp>
      <p:sp>
        <p:nvSpPr>
          <p:cNvPr id="4" name="TextBox 3">
            <a:extLst>
              <a:ext uri="{FF2B5EF4-FFF2-40B4-BE49-F238E27FC236}">
                <a16:creationId xmlns:a16="http://schemas.microsoft.com/office/drawing/2014/main" id="{0FEBAEEE-CAE2-6E5E-E526-11FE20BD48B3}"/>
              </a:ext>
            </a:extLst>
          </p:cNvPr>
          <p:cNvSpPr txBox="1"/>
          <p:nvPr/>
        </p:nvSpPr>
        <p:spPr>
          <a:xfrm>
            <a:off x="613522" y="5132293"/>
            <a:ext cx="365087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sz="2000" dirty="0">
                <a:solidFill>
                  <a:schemeClr val="tx1">
                    <a:lumMod val="75000"/>
                    <a:lumOff val="25000"/>
                  </a:schemeClr>
                </a:solidFill>
              </a:rPr>
              <a:t>Runtime Requirements </a:t>
            </a:r>
          </a:p>
        </p:txBody>
      </p:sp>
    </p:spTree>
    <p:extLst>
      <p:ext uri="{BB962C8B-B14F-4D97-AF65-F5344CB8AC3E}">
        <p14:creationId xmlns:p14="http://schemas.microsoft.com/office/powerpoint/2010/main" val="2239475576"/>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53" name="Straight Connector 52">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55"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56"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57" name="Isosceles Triangle 56">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58"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59"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0"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1" name="Isosceles Triangle 60">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62" name="Isosceles Triangle 61">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64" name="Rectangle 63">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66" name="Rectangle 65">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72"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4"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6" name="Isosceles Triangle 75">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78"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0" name="Isosceles Triangle 79">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2" name="Freeform: Shape 81">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79F29764-DBC8-7135-B0E8-AAA9D9169FC3}"/>
              </a:ext>
            </a:extLst>
          </p:cNvPr>
          <p:cNvSpPr txBox="1"/>
          <p:nvPr/>
        </p:nvSpPr>
        <p:spPr>
          <a:xfrm>
            <a:off x="5421319" y="1165692"/>
            <a:ext cx="5511296" cy="5545667"/>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marL="342900" indent="-342900">
              <a:spcBef>
                <a:spcPts val="1000"/>
              </a:spcBef>
              <a:buClr>
                <a:schemeClr val="accent1"/>
              </a:buClr>
              <a:buSzPct val="80000"/>
              <a:buFont typeface="Wingdings" charset="2"/>
              <a:buChar char="§"/>
            </a:pPr>
            <a:r>
              <a:rPr lang="en-US" sz="2000" b="1" dirty="0">
                <a:solidFill>
                  <a:schemeClr val="bg1"/>
                </a:solidFill>
              </a:rPr>
              <a:t>Python:</a:t>
            </a:r>
            <a:r>
              <a:rPr lang="en-US" sz="2000" dirty="0">
                <a:solidFill>
                  <a:schemeClr val="bg1"/>
                </a:solidFill>
              </a:rPr>
              <a:t> It's a general-purpose, versatile language with a clear syntax and easy-to-read code. It also offers automatic memory management and supports various programming styles.</a:t>
            </a:r>
            <a:endParaRPr lang="en-US" sz="2000">
              <a:solidFill>
                <a:schemeClr val="bg1"/>
              </a:solidFill>
            </a:endParaRPr>
          </a:p>
          <a:p>
            <a:pPr marL="342900" indent="-342900">
              <a:spcBef>
                <a:spcPts val="1000"/>
              </a:spcBef>
              <a:buClr>
                <a:schemeClr val="accent1"/>
              </a:buClr>
              <a:buSzPct val="80000"/>
              <a:buFont typeface="Wingdings" charset="2"/>
              <a:buChar char="§"/>
            </a:pPr>
            <a:r>
              <a:rPr lang="en-US" sz="2000" b="1" dirty="0">
                <a:solidFill>
                  <a:schemeClr val="bg1"/>
                </a:solidFill>
              </a:rPr>
              <a:t>Django:</a:t>
            </a:r>
            <a:r>
              <a:rPr lang="en-US" sz="2000" dirty="0">
                <a:solidFill>
                  <a:schemeClr val="bg1"/>
                </a:solidFill>
              </a:rPr>
              <a:t> This high-level Python web framework is ideal for rapid development and clean design. It provides a foundation for building complex web applications without needing to write everything from scratch.</a:t>
            </a:r>
            <a:endParaRPr lang="en-US" sz="2000">
              <a:solidFill>
                <a:schemeClr val="bg1"/>
              </a:solidFill>
            </a:endParaRPr>
          </a:p>
          <a:p>
            <a:pPr marL="342900" indent="-342900">
              <a:spcBef>
                <a:spcPts val="1000"/>
              </a:spcBef>
              <a:buClr>
                <a:schemeClr val="accent1"/>
              </a:buClr>
              <a:buSzPct val="80000"/>
              <a:buFont typeface="Wingdings" charset="2"/>
              <a:buChar char="§"/>
            </a:pPr>
            <a:r>
              <a:rPr lang="en-US" sz="2000" b="1" dirty="0">
                <a:solidFill>
                  <a:schemeClr val="bg1"/>
                </a:solidFill>
              </a:rPr>
              <a:t>MySQL:</a:t>
            </a:r>
            <a:r>
              <a:rPr lang="en-US" sz="2000" dirty="0">
                <a:solidFill>
                  <a:schemeClr val="bg1"/>
                </a:solidFill>
              </a:rPr>
              <a:t> This open-source relational database management system (RDBMS) is popular for its ease of use, speed, and compatibility with various programming languages, including Python. It can handle large datasets efficiently.</a:t>
            </a:r>
            <a:endParaRPr lang="en-US" sz="2000">
              <a:solidFill>
                <a:schemeClr val="bg1"/>
              </a:solidFill>
            </a:endParaRPr>
          </a:p>
          <a:p>
            <a:pPr>
              <a:spcBef>
                <a:spcPts val="1000"/>
              </a:spcBef>
              <a:buClr>
                <a:schemeClr val="accent1"/>
              </a:buClr>
              <a:buSzPct val="80000"/>
              <a:buFont typeface="Wingdings" charset="2"/>
              <a:buChar char="§"/>
            </a:pPr>
            <a:endParaRPr lang="en-US" sz="2000" dirty="0">
              <a:solidFill>
                <a:srgbClr val="FFFFFF"/>
              </a:solidFill>
            </a:endParaRPr>
          </a:p>
          <a:p>
            <a:pPr>
              <a:spcBef>
                <a:spcPts val="1000"/>
              </a:spcBef>
              <a:buClr>
                <a:schemeClr val="accent1"/>
              </a:buClr>
              <a:buSzPct val="80000"/>
              <a:buFont typeface="Wingdings" charset="2"/>
              <a:buChar char="§"/>
            </a:pPr>
            <a:endParaRPr lang="en-US" sz="2000" dirty="0">
              <a:solidFill>
                <a:srgbClr val="FFFFFF"/>
              </a:solidFill>
            </a:endParaRPr>
          </a:p>
        </p:txBody>
      </p:sp>
      <p:sp>
        <p:nvSpPr>
          <p:cNvPr id="3" name="TextBox 2">
            <a:extLst>
              <a:ext uri="{FF2B5EF4-FFF2-40B4-BE49-F238E27FC236}">
                <a16:creationId xmlns:a16="http://schemas.microsoft.com/office/drawing/2014/main" id="{554BBAA5-3E12-7981-CDF6-E31156FDDE58}"/>
              </a:ext>
            </a:extLst>
          </p:cNvPr>
          <p:cNvSpPr txBox="1"/>
          <p:nvPr/>
        </p:nvSpPr>
        <p:spPr>
          <a:xfrm>
            <a:off x="1148602" y="2907926"/>
            <a:ext cx="27432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Aft>
                <a:spcPts val="600"/>
              </a:spcAft>
              <a:buFont typeface="Wingdings"/>
              <a:buChar char="q"/>
            </a:pPr>
            <a:r>
              <a:rPr lang="en-US" sz="2400" dirty="0"/>
              <a:t>Python</a:t>
            </a:r>
            <a:endParaRPr lang="en-US" sz="2400"/>
          </a:p>
          <a:p>
            <a:pPr marL="285750" indent="-285750">
              <a:spcAft>
                <a:spcPts val="600"/>
              </a:spcAft>
              <a:buFont typeface="Wingdings"/>
              <a:buChar char="q"/>
            </a:pPr>
            <a:r>
              <a:rPr lang="en-US" sz="2400" dirty="0"/>
              <a:t>Django</a:t>
            </a:r>
          </a:p>
          <a:p>
            <a:pPr marL="285750" indent="-285750" algn="l">
              <a:spcAft>
                <a:spcPts val="600"/>
              </a:spcAft>
              <a:buFont typeface="Wingdings"/>
              <a:buChar char="q"/>
            </a:pPr>
            <a:r>
              <a:rPr lang="en-US" sz="2400" err="1"/>
              <a:t>mysql</a:t>
            </a:r>
            <a:endParaRPr lang="en-US" sz="2400"/>
          </a:p>
        </p:txBody>
      </p:sp>
      <p:sp>
        <p:nvSpPr>
          <p:cNvPr id="4" name="TextBox 3">
            <a:extLst>
              <a:ext uri="{FF2B5EF4-FFF2-40B4-BE49-F238E27FC236}">
                <a16:creationId xmlns:a16="http://schemas.microsoft.com/office/drawing/2014/main" id="{40AD6011-18BD-7A10-F2DD-AD51E5C7B493}"/>
              </a:ext>
            </a:extLst>
          </p:cNvPr>
          <p:cNvSpPr txBox="1"/>
          <p:nvPr/>
        </p:nvSpPr>
        <p:spPr>
          <a:xfrm>
            <a:off x="501463" y="2182345"/>
            <a:ext cx="473504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u="sng" dirty="0">
                <a:ea typeface="+mn-lt"/>
                <a:cs typeface="+mn-lt"/>
              </a:rPr>
              <a:t>Justification of Platform:</a:t>
            </a:r>
          </a:p>
        </p:txBody>
      </p:sp>
    </p:spTree>
    <p:extLst>
      <p:ext uri="{BB962C8B-B14F-4D97-AF65-F5344CB8AC3E}">
        <p14:creationId xmlns:p14="http://schemas.microsoft.com/office/powerpoint/2010/main" val="2422635155"/>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144E1E-2E46-E5A6-D18B-35380819D517}"/>
              </a:ext>
            </a:extLst>
          </p:cNvPr>
          <p:cNvSpPr txBox="1"/>
          <p:nvPr/>
        </p:nvSpPr>
        <p:spPr>
          <a:xfrm>
            <a:off x="829235" y="655544"/>
            <a:ext cx="896246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u="sng" dirty="0">
                <a:solidFill>
                  <a:schemeClr val="bg1"/>
                </a:solidFill>
                <a:ea typeface="+mn-lt"/>
                <a:cs typeface="+mn-lt"/>
              </a:rPr>
              <a:t>Proof of Work (</a:t>
            </a:r>
            <a:r>
              <a:rPr lang="en-US" sz="2800" u="sng" dirty="0" err="1">
                <a:solidFill>
                  <a:schemeClr val="bg1"/>
                </a:solidFill>
                <a:ea typeface="+mn-lt"/>
                <a:cs typeface="+mn-lt"/>
              </a:rPr>
              <a:t>PoW</a:t>
            </a:r>
            <a:r>
              <a:rPr lang="en-US" sz="2800" u="sng" dirty="0">
                <a:solidFill>
                  <a:schemeClr val="bg1"/>
                </a:solidFill>
                <a:ea typeface="+mn-lt"/>
                <a:cs typeface="+mn-lt"/>
              </a:rPr>
              <a:t>) algorithm:</a:t>
            </a:r>
          </a:p>
        </p:txBody>
      </p:sp>
      <p:graphicFrame>
        <p:nvGraphicFramePr>
          <p:cNvPr id="9" name="TextBox 2">
            <a:extLst>
              <a:ext uri="{FF2B5EF4-FFF2-40B4-BE49-F238E27FC236}">
                <a16:creationId xmlns:a16="http://schemas.microsoft.com/office/drawing/2014/main" id="{139F766D-A548-1609-C684-C6E10C7D50D6}"/>
              </a:ext>
            </a:extLst>
          </p:cNvPr>
          <p:cNvGraphicFramePr/>
          <p:nvPr>
            <p:extLst>
              <p:ext uri="{D42A27DB-BD31-4B8C-83A1-F6EECF244321}">
                <p14:modId xmlns:p14="http://schemas.microsoft.com/office/powerpoint/2010/main" val="150665368"/>
              </p:ext>
            </p:extLst>
          </p:nvPr>
        </p:nvGraphicFramePr>
        <p:xfrm>
          <a:off x="834838" y="2594161"/>
          <a:ext cx="9197785" cy="29967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11" name="TextBox 210">
            <a:extLst>
              <a:ext uri="{FF2B5EF4-FFF2-40B4-BE49-F238E27FC236}">
                <a16:creationId xmlns:a16="http://schemas.microsoft.com/office/drawing/2014/main" id="{61A9E4E0-6506-AB30-6441-2EC68BBCEE35}"/>
              </a:ext>
            </a:extLst>
          </p:cNvPr>
          <p:cNvSpPr txBox="1"/>
          <p:nvPr/>
        </p:nvSpPr>
        <p:spPr>
          <a:xfrm>
            <a:off x="832036" y="1185022"/>
            <a:ext cx="7438464" cy="1415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bg1"/>
                </a:solidFill>
              </a:rPr>
              <a:t>POW algorithm is a cryptographic consensus mechanism used in some blockchains to validate transactions and secure the network.</a:t>
            </a:r>
            <a:r>
              <a:rPr lang="en-US" sz="2800" dirty="0">
                <a:solidFill>
                  <a:schemeClr val="bg1"/>
                </a:solidFill>
              </a:rPr>
              <a:t> </a:t>
            </a:r>
          </a:p>
          <a:p>
            <a:pPr algn="l"/>
            <a:endParaRPr lang="en-US" dirty="0"/>
          </a:p>
        </p:txBody>
      </p:sp>
    </p:spTree>
    <p:extLst>
      <p:ext uri="{BB962C8B-B14F-4D97-AF65-F5344CB8AC3E}">
        <p14:creationId xmlns:p14="http://schemas.microsoft.com/office/powerpoint/2010/main" val="3100361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3" name="Picture 2" descr="A diagram of a patient&#10;&#10;Description automatically generated">
            <a:extLst>
              <a:ext uri="{FF2B5EF4-FFF2-40B4-BE49-F238E27FC236}">
                <a16:creationId xmlns:a16="http://schemas.microsoft.com/office/drawing/2014/main" id="{610F2205-F995-3415-EF3A-601849EF9E6C}"/>
              </a:ext>
            </a:extLst>
          </p:cNvPr>
          <p:cNvPicPr>
            <a:picLocks noChangeAspect="1"/>
          </p:cNvPicPr>
          <p:nvPr/>
        </p:nvPicPr>
        <p:blipFill>
          <a:blip r:embed="rId2"/>
          <a:stretch>
            <a:fillRect/>
          </a:stretch>
        </p:blipFill>
        <p:spPr>
          <a:xfrm>
            <a:off x="4651771" y="1236875"/>
            <a:ext cx="7543055" cy="4515368"/>
          </a:xfrm>
          <a:prstGeom prst="rect">
            <a:avLst/>
          </a:prstGeom>
        </p:spPr>
      </p:pic>
      <p:cxnSp>
        <p:nvCxnSpPr>
          <p:cNvPr id="42" name="Straight Connector 41">
            <a:extLst>
              <a:ext uri="{FF2B5EF4-FFF2-40B4-BE49-F238E27FC236}">
                <a16:creationId xmlns:a16="http://schemas.microsoft.com/office/drawing/2014/main" id="{D4BDCD00-BA97-40D8-93CD-0A9CA931BE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02080" y="3429000"/>
            <a:ext cx="2636520" cy="0"/>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5" name="Picture 4" descr="A diagram of a person with a stick figure and a few ovals&#10;&#10;Description automatically generated">
            <a:extLst>
              <a:ext uri="{FF2B5EF4-FFF2-40B4-BE49-F238E27FC236}">
                <a16:creationId xmlns:a16="http://schemas.microsoft.com/office/drawing/2014/main" id="{50F71F7F-2AC1-EB97-5D5F-9651F9B55B3E}"/>
              </a:ext>
            </a:extLst>
          </p:cNvPr>
          <p:cNvPicPr>
            <a:picLocks noChangeAspect="1"/>
          </p:cNvPicPr>
          <p:nvPr/>
        </p:nvPicPr>
        <p:blipFill>
          <a:blip r:embed="rId3"/>
          <a:stretch>
            <a:fillRect/>
          </a:stretch>
        </p:blipFill>
        <p:spPr>
          <a:xfrm>
            <a:off x="961312" y="3802285"/>
            <a:ext cx="3531288" cy="2735667"/>
          </a:xfrm>
          <a:prstGeom prst="rect">
            <a:avLst/>
          </a:prstGeom>
        </p:spPr>
      </p:pic>
      <p:cxnSp>
        <p:nvCxnSpPr>
          <p:cNvPr id="44" name="Straight Connector 43">
            <a:extLst>
              <a:ext uri="{FF2B5EF4-FFF2-40B4-BE49-F238E27FC236}">
                <a16:creationId xmlns:a16="http://schemas.microsoft.com/office/drawing/2014/main" id="{2D631E40-F51C-4828-B23B-DF90351329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7" name="Picture 6" descr="A diagram of a person with a person&amp;#39;s figure and ovals&#10;&#10;Description automatically generated">
            <a:extLst>
              <a:ext uri="{FF2B5EF4-FFF2-40B4-BE49-F238E27FC236}">
                <a16:creationId xmlns:a16="http://schemas.microsoft.com/office/drawing/2014/main" id="{11F37BEF-932B-B938-5DEB-73E3284C2BDC}"/>
              </a:ext>
            </a:extLst>
          </p:cNvPr>
          <p:cNvPicPr>
            <a:picLocks noChangeAspect="1"/>
          </p:cNvPicPr>
          <p:nvPr/>
        </p:nvPicPr>
        <p:blipFill>
          <a:blip r:embed="rId4"/>
          <a:stretch>
            <a:fillRect/>
          </a:stretch>
        </p:blipFill>
        <p:spPr>
          <a:xfrm>
            <a:off x="790191" y="444870"/>
            <a:ext cx="3852424" cy="3045082"/>
          </a:xfrm>
          <a:prstGeom prst="rect">
            <a:avLst/>
          </a:prstGeom>
        </p:spPr>
      </p:pic>
      <p:sp>
        <p:nvSpPr>
          <p:cNvPr id="8" name="TextBox 7">
            <a:extLst>
              <a:ext uri="{FF2B5EF4-FFF2-40B4-BE49-F238E27FC236}">
                <a16:creationId xmlns:a16="http://schemas.microsoft.com/office/drawing/2014/main" id="{3016F2D4-3F0E-3745-63C5-59BE1A2C3E3C}"/>
              </a:ext>
            </a:extLst>
          </p:cNvPr>
          <p:cNvSpPr txBox="1"/>
          <p:nvPr/>
        </p:nvSpPr>
        <p:spPr>
          <a:xfrm>
            <a:off x="4649391" y="616147"/>
            <a:ext cx="582691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u="sng" dirty="0"/>
              <a:t>E-R diagram representation:</a:t>
            </a:r>
          </a:p>
        </p:txBody>
      </p:sp>
    </p:spTree>
    <p:extLst>
      <p:ext uri="{BB962C8B-B14F-4D97-AF65-F5344CB8AC3E}">
        <p14:creationId xmlns:p14="http://schemas.microsoft.com/office/powerpoint/2010/main" val="4113635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 name="Straight Connector 7">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Isosceles Triangle 11">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Isosceles Triangle 15">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19" name="Rectangle 18">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648049AD-9827-49E8-8BF5-32E175C8E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2" name="Straight Connector 21">
              <a:extLst>
                <a:ext uri="{FF2B5EF4-FFF2-40B4-BE49-F238E27FC236}">
                  <a16:creationId xmlns:a16="http://schemas.microsoft.com/office/drawing/2014/main" id="{3AA99CFD-13BA-4D43-8274-E720ACDBED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46D58D6-64B0-4752-8159-24114F47A5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C16801F7-F15E-4355-8767-26487BA8B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5">
              <a:extLst>
                <a:ext uri="{FF2B5EF4-FFF2-40B4-BE49-F238E27FC236}">
                  <a16:creationId xmlns:a16="http://schemas.microsoft.com/office/drawing/2014/main" id="{14FF0578-E224-4225-8396-B99D4881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Isosceles Triangle 25">
              <a:extLst>
                <a:ext uri="{FF2B5EF4-FFF2-40B4-BE49-F238E27FC236}">
                  <a16:creationId xmlns:a16="http://schemas.microsoft.com/office/drawing/2014/main" id="{4642C0E0-9644-41F1-8CF3-33779AA8A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7">
              <a:extLst>
                <a:ext uri="{FF2B5EF4-FFF2-40B4-BE49-F238E27FC236}">
                  <a16:creationId xmlns:a16="http://schemas.microsoft.com/office/drawing/2014/main" id="{5F77D9D3-628A-4607-B307-91AAA5603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8">
              <a:extLst>
                <a:ext uri="{FF2B5EF4-FFF2-40B4-BE49-F238E27FC236}">
                  <a16:creationId xmlns:a16="http://schemas.microsoft.com/office/drawing/2014/main" id="{0600759E-C22E-4F3D-8569-0DE8F1D4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9">
              <a:extLst>
                <a:ext uri="{FF2B5EF4-FFF2-40B4-BE49-F238E27FC236}">
                  <a16:creationId xmlns:a16="http://schemas.microsoft.com/office/drawing/2014/main" id="{9A4E951D-EAB0-4F6B-84AE-B5B25684F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Isosceles Triangle 29">
              <a:extLst>
                <a:ext uri="{FF2B5EF4-FFF2-40B4-BE49-F238E27FC236}">
                  <a16:creationId xmlns:a16="http://schemas.microsoft.com/office/drawing/2014/main" id="{B953BEA8-1B45-419E-BACD-49DB8888B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a:extLst>
                <a:ext uri="{FF2B5EF4-FFF2-40B4-BE49-F238E27FC236}">
                  <a16:creationId xmlns:a16="http://schemas.microsoft.com/office/drawing/2014/main" id="{72B7FA08-1FF3-4AED-B4E9-587D81D6B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extBox 1">
            <a:extLst>
              <a:ext uri="{FF2B5EF4-FFF2-40B4-BE49-F238E27FC236}">
                <a16:creationId xmlns:a16="http://schemas.microsoft.com/office/drawing/2014/main" id="{DDB7D8C0-8BE6-4EE3-EA0C-E9E442BC108B}"/>
              </a:ext>
            </a:extLst>
          </p:cNvPr>
          <p:cNvSpPr txBox="1"/>
          <p:nvPr/>
        </p:nvSpPr>
        <p:spPr>
          <a:xfrm>
            <a:off x="665428" y="791370"/>
            <a:ext cx="9692041" cy="5666710"/>
          </a:xfrm>
          <a:prstGeom prst="rect">
            <a:avLst/>
          </a:prstGeom>
        </p:spPr>
        <p:txBody>
          <a:bodyPr vert="horz" lIns="91440" tIns="45720" rIns="91440" bIns="45720" rtlCol="0" anchor="t">
            <a:normAutofit/>
          </a:bodyPr>
          <a:lstStyle/>
          <a:p>
            <a:pPr>
              <a:spcBef>
                <a:spcPts val="1000"/>
              </a:spcBef>
              <a:buClr>
                <a:schemeClr val="accent1"/>
              </a:buClr>
              <a:buSzPct val="80000"/>
            </a:pPr>
            <a:r>
              <a:rPr lang="en-US" sz="2800" b="1" u="sng" dirty="0">
                <a:solidFill>
                  <a:schemeClr val="tx1">
                    <a:lumMod val="75000"/>
                    <a:lumOff val="25000"/>
                  </a:schemeClr>
                </a:solidFill>
              </a:rPr>
              <a:t>Experimental  Results:</a:t>
            </a:r>
          </a:p>
          <a:p>
            <a:pPr marL="342900" indent="-342900">
              <a:spcBef>
                <a:spcPts val="1000"/>
              </a:spcBef>
              <a:buClr>
                <a:schemeClr val="accent1"/>
              </a:buClr>
              <a:buSzPct val="80000"/>
              <a:buFont typeface="Wingdings" charset="2"/>
              <a:buChar char="Ø"/>
            </a:pPr>
            <a:r>
              <a:rPr lang="en-US" sz="2400" b="1" dirty="0">
                <a:solidFill>
                  <a:schemeClr val="tx1">
                    <a:lumMod val="75000"/>
                    <a:lumOff val="25000"/>
                  </a:schemeClr>
                </a:solidFill>
              </a:rPr>
              <a:t>Deployment and Functionality:</a:t>
            </a:r>
            <a:r>
              <a:rPr lang="en-US" sz="2400" dirty="0">
                <a:solidFill>
                  <a:schemeClr val="tx1">
                    <a:lumMod val="75000"/>
                    <a:lumOff val="25000"/>
                  </a:schemeClr>
                </a:solidFill>
              </a:rPr>
              <a:t> </a:t>
            </a:r>
          </a:p>
          <a:p>
            <a:pPr marL="342900" indent="-342900">
              <a:spcBef>
                <a:spcPts val="1000"/>
              </a:spcBef>
              <a:buClr>
                <a:schemeClr val="accent1"/>
              </a:buClr>
              <a:buSzPct val="80000"/>
              <a:buFont typeface="Wingdings" charset="2"/>
              <a:buChar char="Ø"/>
            </a:pPr>
            <a:endParaRPr lang="en-US" sz="2400" b="1" dirty="0">
              <a:solidFill>
                <a:schemeClr val="tx1">
                  <a:lumMod val="75000"/>
                  <a:lumOff val="25000"/>
                </a:schemeClr>
              </a:solidFill>
            </a:endParaRPr>
          </a:p>
          <a:p>
            <a:pPr marL="342900" indent="-342900">
              <a:spcBef>
                <a:spcPts val="1000"/>
              </a:spcBef>
              <a:buClr>
                <a:schemeClr val="accent1"/>
              </a:buClr>
              <a:buSzPct val="80000"/>
              <a:buFont typeface="Wingdings" charset="2"/>
              <a:buChar char="Ø"/>
            </a:pPr>
            <a:endParaRPr lang="en-US" sz="2400" b="1" dirty="0">
              <a:solidFill>
                <a:schemeClr val="tx1">
                  <a:lumMod val="75000"/>
                  <a:lumOff val="25000"/>
                </a:schemeClr>
              </a:solidFill>
            </a:endParaRPr>
          </a:p>
          <a:p>
            <a:pPr marL="342900" indent="-342900">
              <a:spcBef>
                <a:spcPts val="1000"/>
              </a:spcBef>
              <a:buClr>
                <a:schemeClr val="accent1"/>
              </a:buClr>
              <a:buSzPct val="80000"/>
              <a:buFont typeface="Wingdings" charset="2"/>
              <a:buChar char="Ø"/>
            </a:pPr>
            <a:endParaRPr lang="en-US" sz="2400" b="1" dirty="0">
              <a:solidFill>
                <a:schemeClr val="tx1">
                  <a:lumMod val="75000"/>
                  <a:lumOff val="25000"/>
                </a:schemeClr>
              </a:solidFill>
            </a:endParaRPr>
          </a:p>
          <a:p>
            <a:pPr marL="342900" indent="-342900">
              <a:spcBef>
                <a:spcPts val="1000"/>
              </a:spcBef>
              <a:buClr>
                <a:schemeClr val="accent1"/>
              </a:buClr>
              <a:buSzPct val="80000"/>
              <a:buFont typeface="Wingdings" charset="2"/>
              <a:buChar char="Ø"/>
            </a:pPr>
            <a:endParaRPr lang="en-US" sz="2400" b="1" dirty="0">
              <a:solidFill>
                <a:schemeClr val="tx1">
                  <a:lumMod val="75000"/>
                  <a:lumOff val="25000"/>
                </a:schemeClr>
              </a:solidFill>
            </a:endParaRPr>
          </a:p>
          <a:p>
            <a:pPr marL="342900" indent="-342900">
              <a:spcBef>
                <a:spcPts val="1000"/>
              </a:spcBef>
              <a:buClr>
                <a:schemeClr val="accent1"/>
              </a:buClr>
              <a:buSzPct val="80000"/>
              <a:buFont typeface="Wingdings" charset="2"/>
              <a:buChar char="Ø"/>
            </a:pPr>
            <a:endParaRPr lang="en-US" sz="2400" b="1" dirty="0">
              <a:solidFill>
                <a:schemeClr val="tx1">
                  <a:lumMod val="75000"/>
                  <a:lumOff val="25000"/>
                </a:schemeClr>
              </a:solidFill>
            </a:endParaRPr>
          </a:p>
          <a:p>
            <a:pPr marL="342900" indent="-342900">
              <a:spcBef>
                <a:spcPts val="1000"/>
              </a:spcBef>
              <a:buClr>
                <a:schemeClr val="accent1"/>
              </a:buClr>
              <a:buSzPct val="80000"/>
              <a:buFont typeface="Wingdings" charset="2"/>
              <a:buChar char="Ø"/>
            </a:pPr>
            <a:r>
              <a:rPr lang="en-US" sz="2400" b="1" dirty="0">
                <a:solidFill>
                  <a:schemeClr val="tx1">
                    <a:lumMod val="75000"/>
                    <a:lumOff val="25000"/>
                  </a:schemeClr>
                </a:solidFill>
              </a:rPr>
              <a:t>Security and Transparency:</a:t>
            </a:r>
            <a:r>
              <a:rPr lang="en-US" sz="2400" dirty="0">
                <a:solidFill>
                  <a:schemeClr val="tx1">
                    <a:lumMod val="75000"/>
                    <a:lumOff val="25000"/>
                  </a:schemeClr>
                </a:solidFill>
              </a:rPr>
              <a:t> </a:t>
            </a:r>
            <a:endParaRPr lang="en-US" sz="2400">
              <a:solidFill>
                <a:schemeClr val="tx1">
                  <a:lumMod val="75000"/>
                  <a:lumOff val="25000"/>
                </a:schemeClr>
              </a:solidFill>
            </a:endParaRPr>
          </a:p>
          <a:p>
            <a:pPr marL="285750" indent="-285750">
              <a:spcBef>
                <a:spcPts val="1000"/>
              </a:spcBef>
              <a:buClr>
                <a:schemeClr val="accent1"/>
              </a:buClr>
              <a:buSzPct val="80000"/>
              <a:buFont typeface="Wingdings" charset="2"/>
              <a:buChar char="Ø"/>
            </a:pPr>
            <a:endParaRPr lang="en-US">
              <a:solidFill>
                <a:schemeClr val="tx1">
                  <a:lumMod val="75000"/>
                  <a:lumOff val="25000"/>
                </a:schemeClr>
              </a:solidFill>
            </a:endParaRPr>
          </a:p>
          <a:p>
            <a:pPr>
              <a:spcBef>
                <a:spcPts val="1000"/>
              </a:spcBef>
              <a:buClr>
                <a:schemeClr val="accent1"/>
              </a:buClr>
              <a:buSzPct val="80000"/>
              <a:buFont typeface="Wingdings" charset="2"/>
              <a:buChar char="Ø"/>
            </a:pPr>
            <a:endParaRPr lang="en-US">
              <a:solidFill>
                <a:schemeClr val="tx1">
                  <a:lumMod val="75000"/>
                  <a:lumOff val="25000"/>
                </a:schemeClr>
              </a:solidFill>
            </a:endParaRPr>
          </a:p>
        </p:txBody>
      </p:sp>
      <p:sp>
        <p:nvSpPr>
          <p:cNvPr id="3" name="TextBox 2">
            <a:extLst>
              <a:ext uri="{FF2B5EF4-FFF2-40B4-BE49-F238E27FC236}">
                <a16:creationId xmlns:a16="http://schemas.microsoft.com/office/drawing/2014/main" id="{6E43AE3F-1B24-6097-CAF0-C86831693846}"/>
              </a:ext>
            </a:extLst>
          </p:cNvPr>
          <p:cNvSpPr txBox="1"/>
          <p:nvPr/>
        </p:nvSpPr>
        <p:spPr>
          <a:xfrm>
            <a:off x="1464468" y="1848445"/>
            <a:ext cx="8696323" cy="24724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spcBef>
                <a:spcPts val="1000"/>
              </a:spcBef>
              <a:buFont typeface="Arial"/>
              <a:buChar char="•"/>
            </a:pPr>
            <a:r>
              <a:rPr lang="en-US" sz="2000" dirty="0">
                <a:solidFill>
                  <a:schemeClr val="accent1"/>
                </a:solidFill>
              </a:rPr>
              <a:t>You can deploy the code on Django and run the server. The provided figures showcase the functionalities:</a:t>
            </a:r>
          </a:p>
          <a:p>
            <a:pPr marL="342900" indent="-342900">
              <a:spcBef>
                <a:spcPts val="1000"/>
              </a:spcBef>
              <a:buFont typeface="Arial"/>
              <a:buChar char="•"/>
            </a:pPr>
            <a:r>
              <a:rPr lang="en-US" sz="2000" dirty="0">
                <a:solidFill>
                  <a:schemeClr val="accent1"/>
                </a:solidFill>
              </a:rPr>
              <a:t>Patients can register, create profiles, and share data with specific hospitals.</a:t>
            </a:r>
          </a:p>
          <a:p>
            <a:pPr marL="342900" indent="-342900">
              <a:spcBef>
                <a:spcPts val="1000"/>
              </a:spcBef>
              <a:buFont typeface="Arial"/>
              <a:buChar char="•"/>
            </a:pPr>
            <a:r>
              <a:rPr lang="en-US" sz="2000" dirty="0">
                <a:solidFill>
                  <a:schemeClr val="accent1"/>
                </a:solidFill>
              </a:rPr>
              <a:t>Hospitals can log in, search for patients based on disease, and access data based on granted permissions.</a:t>
            </a:r>
          </a:p>
          <a:p>
            <a:pPr algn="l"/>
            <a:endParaRPr lang="en-US" dirty="0"/>
          </a:p>
        </p:txBody>
      </p:sp>
      <p:sp>
        <p:nvSpPr>
          <p:cNvPr id="5" name="TextBox 4">
            <a:extLst>
              <a:ext uri="{FF2B5EF4-FFF2-40B4-BE49-F238E27FC236}">
                <a16:creationId xmlns:a16="http://schemas.microsoft.com/office/drawing/2014/main" id="{4BB84593-27C4-4E4A-AFF8-5DCD9CD54C65}"/>
              </a:ext>
            </a:extLst>
          </p:cNvPr>
          <p:cNvSpPr txBox="1"/>
          <p:nvPr/>
        </p:nvSpPr>
        <p:spPr>
          <a:xfrm>
            <a:off x="1607343" y="5000624"/>
            <a:ext cx="2743199" cy="3657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A8A44FDE-EC48-8C5C-6673-08584BE7B016}"/>
              </a:ext>
            </a:extLst>
          </p:cNvPr>
          <p:cNvSpPr txBox="1"/>
          <p:nvPr/>
        </p:nvSpPr>
        <p:spPr>
          <a:xfrm>
            <a:off x="1604366" y="4822030"/>
            <a:ext cx="9089230" cy="19851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spcBef>
                <a:spcPts val="1000"/>
              </a:spcBef>
              <a:buFont typeface="Arial"/>
              <a:buChar char="•"/>
            </a:pPr>
            <a:r>
              <a:rPr lang="en-US" sz="2000" dirty="0">
                <a:solidFill>
                  <a:schemeClr val="accent1"/>
                </a:solidFill>
              </a:rPr>
              <a:t>Blockchain ensures data security and access control.</a:t>
            </a:r>
            <a:endParaRPr lang="en-US"/>
          </a:p>
          <a:p>
            <a:pPr marL="342900" indent="-342900">
              <a:spcBef>
                <a:spcPts val="1000"/>
              </a:spcBef>
              <a:buFont typeface="Arial"/>
              <a:buChar char="•"/>
            </a:pPr>
            <a:r>
              <a:rPr lang="en-US" sz="2000" dirty="0">
                <a:solidFill>
                  <a:schemeClr val="accent1"/>
                </a:solidFill>
              </a:rPr>
              <a:t>Only authorized hospitals can access patient data.</a:t>
            </a:r>
          </a:p>
          <a:p>
            <a:pPr marL="342900" indent="-342900">
              <a:spcBef>
                <a:spcPts val="1000"/>
              </a:spcBef>
              <a:buFont typeface="Arial"/>
              <a:buChar char="•"/>
            </a:pPr>
            <a:r>
              <a:rPr lang="en-US" sz="2000" dirty="0">
                <a:solidFill>
                  <a:schemeClr val="accent1"/>
                </a:solidFill>
              </a:rPr>
              <a:t>Patients can see a hash code (unique identifier) for their data and</a:t>
            </a:r>
          </a:p>
          <a:p>
            <a:pPr>
              <a:spcBef>
                <a:spcPts val="1000"/>
              </a:spcBef>
            </a:pPr>
            <a:r>
              <a:rPr lang="en-US" sz="2000" dirty="0">
                <a:solidFill>
                  <a:schemeClr val="accent1"/>
                </a:solidFill>
              </a:rPr>
              <a:t>     their earned rewards for data access.</a:t>
            </a:r>
            <a:endParaRPr lang="en-US" dirty="0">
              <a:solidFill>
                <a:schemeClr val="accent1"/>
              </a:solidFill>
            </a:endParaRPr>
          </a:p>
          <a:p>
            <a:pPr algn="l"/>
            <a:endParaRPr lang="en-US" dirty="0"/>
          </a:p>
        </p:txBody>
      </p:sp>
    </p:spTree>
    <p:extLst>
      <p:ext uri="{BB962C8B-B14F-4D97-AF65-F5344CB8AC3E}">
        <p14:creationId xmlns:p14="http://schemas.microsoft.com/office/powerpoint/2010/main" val="4176351705"/>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pSp>
        <p:nvGrpSpPr>
          <p:cNvPr id="58" name="Group 57">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9" name="Straight Connector 38">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1"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2"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3" name="Isosceles Triangle 42">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44"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5"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6"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47" name="Isosceles Triangle 46">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8" name="Isosceles Triangle 47">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4" name="TextBox 3">
            <a:extLst>
              <a:ext uri="{FF2B5EF4-FFF2-40B4-BE49-F238E27FC236}">
                <a16:creationId xmlns:a16="http://schemas.microsoft.com/office/drawing/2014/main" id="{AA1FEE2E-38BC-5DC3-2651-AD6B7CA63997}"/>
              </a:ext>
            </a:extLst>
          </p:cNvPr>
          <p:cNvSpPr txBox="1"/>
          <p:nvPr/>
        </p:nvSpPr>
        <p:spPr>
          <a:xfrm>
            <a:off x="848652" y="-1336372"/>
            <a:ext cx="9165580" cy="3227360"/>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2800" kern="1200" dirty="0">
                <a:solidFill>
                  <a:schemeClr val="accent1"/>
                </a:solidFill>
                <a:latin typeface="+mj-lt"/>
                <a:ea typeface="+mj-ea"/>
                <a:cs typeface="+mj-cs"/>
              </a:rPr>
              <a:t>Deploy code on DJANOGO and start server and run in browser to get below screen</a:t>
            </a:r>
          </a:p>
          <a:p>
            <a:pPr>
              <a:lnSpc>
                <a:spcPct val="90000"/>
              </a:lnSpc>
              <a:spcBef>
                <a:spcPct val="0"/>
              </a:spcBef>
              <a:spcAft>
                <a:spcPts val="600"/>
              </a:spcAft>
            </a:pPr>
            <a:endParaRPr lang="en-US" sz="2800" kern="1200" dirty="0">
              <a:solidFill>
                <a:schemeClr val="accent1"/>
              </a:solidFill>
              <a:latin typeface="+mj-lt"/>
              <a:ea typeface="+mj-ea"/>
              <a:cs typeface="+mj-cs"/>
            </a:endParaRPr>
          </a:p>
        </p:txBody>
      </p:sp>
      <p:sp>
        <p:nvSpPr>
          <p:cNvPr id="59" name="Isosceles Triangle 58">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 screenshot of a computer&#10;&#10;Description automatically generated">
            <a:extLst>
              <a:ext uri="{FF2B5EF4-FFF2-40B4-BE49-F238E27FC236}">
                <a16:creationId xmlns:a16="http://schemas.microsoft.com/office/drawing/2014/main" id="{391AD3AE-497C-90C7-21E3-15AC923F6DBA}"/>
              </a:ext>
            </a:extLst>
          </p:cNvPr>
          <p:cNvPicPr>
            <a:picLocks noChangeAspect="1"/>
          </p:cNvPicPr>
          <p:nvPr/>
        </p:nvPicPr>
        <p:blipFill>
          <a:blip r:embed="rId2"/>
          <a:stretch>
            <a:fillRect/>
          </a:stretch>
        </p:blipFill>
        <p:spPr>
          <a:xfrm>
            <a:off x="1988062" y="1492144"/>
            <a:ext cx="10199148" cy="5362140"/>
          </a:xfrm>
          <a:prstGeom prst="rect">
            <a:avLst/>
          </a:prstGeom>
        </p:spPr>
      </p:pic>
    </p:spTree>
    <p:extLst>
      <p:ext uri="{BB962C8B-B14F-4D97-AF65-F5344CB8AC3E}">
        <p14:creationId xmlns:p14="http://schemas.microsoft.com/office/powerpoint/2010/main" val="2966185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40C447BF-1BE1-9C2D-1E52-92DC8A065EB9}"/>
              </a:ext>
            </a:extLst>
          </p:cNvPr>
          <p:cNvPicPr>
            <a:picLocks noChangeAspect="1"/>
          </p:cNvPicPr>
          <p:nvPr/>
        </p:nvPicPr>
        <p:blipFill rotWithShape="1">
          <a:blip r:embed="rId2"/>
          <a:srcRect/>
          <a:stretch/>
        </p:blipFill>
        <p:spPr>
          <a:xfrm>
            <a:off x="20" y="10"/>
            <a:ext cx="12191980" cy="6857990"/>
          </a:xfrm>
          <a:prstGeom prst="rect">
            <a:avLst/>
          </a:prstGeom>
        </p:spPr>
      </p:pic>
    </p:spTree>
    <p:extLst>
      <p:ext uri="{BB962C8B-B14F-4D97-AF65-F5344CB8AC3E}">
        <p14:creationId xmlns:p14="http://schemas.microsoft.com/office/powerpoint/2010/main" val="3070120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EF81CCB0-DEFF-80CA-16FF-21DD44FD4B8B}"/>
              </a:ext>
            </a:extLst>
          </p:cNvPr>
          <p:cNvPicPr>
            <a:picLocks noChangeAspect="1"/>
          </p:cNvPicPr>
          <p:nvPr/>
        </p:nvPicPr>
        <p:blipFill rotWithShape="1">
          <a:blip r:embed="rId2"/>
          <a:srcRect/>
          <a:stretch/>
        </p:blipFill>
        <p:spPr>
          <a:xfrm>
            <a:off x="20" y="10"/>
            <a:ext cx="12191980" cy="6857990"/>
          </a:xfrm>
          <a:prstGeom prst="rect">
            <a:avLst/>
          </a:prstGeom>
        </p:spPr>
      </p:pic>
      <p:sp>
        <p:nvSpPr>
          <p:cNvPr id="2" name="TextBox 1">
            <a:extLst>
              <a:ext uri="{FF2B5EF4-FFF2-40B4-BE49-F238E27FC236}">
                <a16:creationId xmlns:a16="http://schemas.microsoft.com/office/drawing/2014/main" id="{B4C4DC3F-FE3C-A564-8546-DD98E5A35475}"/>
              </a:ext>
            </a:extLst>
          </p:cNvPr>
          <p:cNvSpPr txBox="1"/>
          <p:nvPr/>
        </p:nvSpPr>
        <p:spPr>
          <a:xfrm>
            <a:off x="2313214" y="163285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443091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1EC8D020-0DCD-41AB-8BF1-99848464E2BB}"/>
              </a:ext>
            </a:extLst>
          </p:cNvPr>
          <p:cNvPicPr>
            <a:picLocks noChangeAspect="1"/>
          </p:cNvPicPr>
          <p:nvPr/>
        </p:nvPicPr>
        <p:blipFill rotWithShape="1">
          <a:blip r:embed="rId2"/>
          <a:srcRect/>
          <a:stretch/>
        </p:blipFill>
        <p:spPr>
          <a:xfrm>
            <a:off x="20" y="10"/>
            <a:ext cx="12191980" cy="6857990"/>
          </a:xfrm>
          <a:prstGeom prst="rect">
            <a:avLst/>
          </a:prstGeom>
        </p:spPr>
      </p:pic>
      <p:sp>
        <p:nvSpPr>
          <p:cNvPr id="2" name="TextBox 1">
            <a:extLst>
              <a:ext uri="{FF2B5EF4-FFF2-40B4-BE49-F238E27FC236}">
                <a16:creationId xmlns:a16="http://schemas.microsoft.com/office/drawing/2014/main" id="{A0A1649A-EFF8-E668-E920-20CD7EBEA51A}"/>
              </a:ext>
            </a:extLst>
          </p:cNvPr>
          <p:cNvSpPr txBox="1"/>
          <p:nvPr/>
        </p:nvSpPr>
        <p:spPr>
          <a:xfrm>
            <a:off x="911678" y="748392"/>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361154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51C4E52C-6121-DC89-8C60-0CC50DB95B23}"/>
              </a:ext>
            </a:extLst>
          </p:cNvPr>
          <p:cNvPicPr>
            <a:picLocks noChangeAspect="1"/>
          </p:cNvPicPr>
          <p:nvPr/>
        </p:nvPicPr>
        <p:blipFill rotWithShape="1">
          <a:blip r:embed="rId2"/>
          <a:srcRect/>
          <a:stretch/>
        </p:blipFill>
        <p:spPr>
          <a:xfrm>
            <a:off x="20" y="10"/>
            <a:ext cx="12191980" cy="6857990"/>
          </a:xfrm>
          <a:prstGeom prst="rect">
            <a:avLst/>
          </a:prstGeom>
        </p:spPr>
      </p:pic>
      <p:sp>
        <p:nvSpPr>
          <p:cNvPr id="2" name="TextBox 1">
            <a:extLst>
              <a:ext uri="{FF2B5EF4-FFF2-40B4-BE49-F238E27FC236}">
                <a16:creationId xmlns:a16="http://schemas.microsoft.com/office/drawing/2014/main" id="{70119C6B-7525-3FCF-B6F3-8A46C36CBA64}"/>
              </a:ext>
            </a:extLst>
          </p:cNvPr>
          <p:cNvSpPr txBox="1"/>
          <p:nvPr/>
        </p:nvSpPr>
        <p:spPr>
          <a:xfrm>
            <a:off x="1129392" y="123825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 name="TextBox 2">
            <a:extLst>
              <a:ext uri="{FF2B5EF4-FFF2-40B4-BE49-F238E27FC236}">
                <a16:creationId xmlns:a16="http://schemas.microsoft.com/office/drawing/2014/main" id="{D94485BA-DB29-DEC7-F74B-26780767AFFA}"/>
              </a:ext>
            </a:extLst>
          </p:cNvPr>
          <p:cNvSpPr txBox="1"/>
          <p:nvPr/>
        </p:nvSpPr>
        <p:spPr>
          <a:xfrm>
            <a:off x="1728107" y="18777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2158166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A058C37C-59D6-CD39-31C4-B56DC8F586A7}"/>
              </a:ext>
            </a:extLst>
          </p:cNvPr>
          <p:cNvPicPr>
            <a:picLocks noChangeAspect="1"/>
          </p:cNvPicPr>
          <p:nvPr/>
        </p:nvPicPr>
        <p:blipFill rotWithShape="1">
          <a:blip r:embed="rId2"/>
          <a:srcRect/>
          <a:stretch/>
        </p:blipFill>
        <p:spPr>
          <a:xfrm>
            <a:off x="20" y="10"/>
            <a:ext cx="12191980" cy="6857990"/>
          </a:xfrm>
          <a:prstGeom prst="rect">
            <a:avLst/>
          </a:prstGeom>
        </p:spPr>
      </p:pic>
      <p:sp>
        <p:nvSpPr>
          <p:cNvPr id="2" name="TextBox 1">
            <a:extLst>
              <a:ext uri="{FF2B5EF4-FFF2-40B4-BE49-F238E27FC236}">
                <a16:creationId xmlns:a16="http://schemas.microsoft.com/office/drawing/2014/main" id="{1A5AB7DA-A88D-AF15-FB7C-642B2070DA90}"/>
              </a:ext>
            </a:extLst>
          </p:cNvPr>
          <p:cNvSpPr txBox="1"/>
          <p:nvPr/>
        </p:nvSpPr>
        <p:spPr>
          <a:xfrm>
            <a:off x="2122714" y="1755321"/>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 name="TextBox 2">
            <a:extLst>
              <a:ext uri="{FF2B5EF4-FFF2-40B4-BE49-F238E27FC236}">
                <a16:creationId xmlns:a16="http://schemas.microsoft.com/office/drawing/2014/main" id="{935A731F-15EB-5F3F-62D0-09821C013AD6}"/>
              </a:ext>
            </a:extLst>
          </p:cNvPr>
          <p:cNvSpPr txBox="1"/>
          <p:nvPr/>
        </p:nvSpPr>
        <p:spPr>
          <a:xfrm>
            <a:off x="1034142" y="721178"/>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2247589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2799F37F-CC90-39C3-F8FB-49C28494A62B}"/>
              </a:ext>
            </a:extLst>
          </p:cNvPr>
          <p:cNvPicPr>
            <a:picLocks noChangeAspect="1"/>
          </p:cNvPicPr>
          <p:nvPr/>
        </p:nvPicPr>
        <p:blipFill rotWithShape="1">
          <a:blip r:embed="rId2"/>
          <a:srcRect/>
          <a:stretch/>
        </p:blipFill>
        <p:spPr>
          <a:xfrm>
            <a:off x="20" y="10"/>
            <a:ext cx="12191980" cy="6857990"/>
          </a:xfrm>
          <a:prstGeom prst="rect">
            <a:avLst/>
          </a:prstGeom>
        </p:spPr>
      </p:pic>
      <p:sp>
        <p:nvSpPr>
          <p:cNvPr id="2" name="TextBox 1">
            <a:extLst>
              <a:ext uri="{FF2B5EF4-FFF2-40B4-BE49-F238E27FC236}">
                <a16:creationId xmlns:a16="http://schemas.microsoft.com/office/drawing/2014/main" id="{6B9F0894-23F5-4242-E6C0-608BF87D8499}"/>
              </a:ext>
            </a:extLst>
          </p:cNvPr>
          <p:cNvSpPr txBox="1"/>
          <p:nvPr/>
        </p:nvSpPr>
        <p:spPr>
          <a:xfrm>
            <a:off x="625928" y="114300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3504125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80681C8B-71A3-F89F-EC83-CA18C3421306}"/>
              </a:ext>
            </a:extLst>
          </p:cNvPr>
          <p:cNvPicPr>
            <a:picLocks noChangeAspect="1"/>
          </p:cNvPicPr>
          <p:nvPr/>
        </p:nvPicPr>
        <p:blipFill rotWithShape="1">
          <a:blip r:embed="rId2"/>
          <a:srcRect/>
          <a:stretch/>
        </p:blipFill>
        <p:spPr>
          <a:xfrm>
            <a:off x="20" y="10"/>
            <a:ext cx="12191980" cy="6857990"/>
          </a:xfrm>
          <a:prstGeom prst="rect">
            <a:avLst/>
          </a:prstGeom>
        </p:spPr>
      </p:pic>
      <p:sp>
        <p:nvSpPr>
          <p:cNvPr id="2" name="TextBox 1">
            <a:extLst>
              <a:ext uri="{FF2B5EF4-FFF2-40B4-BE49-F238E27FC236}">
                <a16:creationId xmlns:a16="http://schemas.microsoft.com/office/drawing/2014/main" id="{7D891064-4F90-A120-1763-DAF976B4BD68}"/>
              </a:ext>
            </a:extLst>
          </p:cNvPr>
          <p:cNvSpPr txBox="1"/>
          <p:nvPr/>
        </p:nvSpPr>
        <p:spPr>
          <a:xfrm>
            <a:off x="1224642" y="153760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673338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E09CBF1A-C35F-1536-0814-13F161EDBC2C}"/>
              </a:ext>
            </a:extLst>
          </p:cNvPr>
          <p:cNvPicPr>
            <a:picLocks noChangeAspect="1"/>
          </p:cNvPicPr>
          <p:nvPr/>
        </p:nvPicPr>
        <p:blipFill rotWithShape="1">
          <a:blip r:embed="rId2"/>
          <a:srcRect/>
          <a:stretch/>
        </p:blipFill>
        <p:spPr>
          <a:xfrm>
            <a:off x="20" y="10"/>
            <a:ext cx="12191980" cy="6857990"/>
          </a:xfrm>
          <a:prstGeom prst="rect">
            <a:avLst/>
          </a:prstGeom>
        </p:spPr>
      </p:pic>
      <p:sp>
        <p:nvSpPr>
          <p:cNvPr id="2" name="TextBox 1">
            <a:extLst>
              <a:ext uri="{FF2B5EF4-FFF2-40B4-BE49-F238E27FC236}">
                <a16:creationId xmlns:a16="http://schemas.microsoft.com/office/drawing/2014/main" id="{EFF0CDAE-52BF-341E-4E05-46D5DF8CEB89}"/>
              </a:ext>
            </a:extLst>
          </p:cNvPr>
          <p:cNvSpPr txBox="1"/>
          <p:nvPr/>
        </p:nvSpPr>
        <p:spPr>
          <a:xfrm>
            <a:off x="925285" y="1034142"/>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511082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85D8CDC2-2B34-3354-75DA-4923C8A28BBD}"/>
              </a:ext>
            </a:extLst>
          </p:cNvPr>
          <p:cNvPicPr>
            <a:picLocks noChangeAspect="1"/>
          </p:cNvPicPr>
          <p:nvPr/>
        </p:nvPicPr>
        <p:blipFill rotWithShape="1">
          <a:blip r:embed="rId2"/>
          <a:srcRect/>
          <a:stretch/>
        </p:blipFill>
        <p:spPr>
          <a:xfrm>
            <a:off x="20" y="10"/>
            <a:ext cx="12191980" cy="6857990"/>
          </a:xfrm>
          <a:prstGeom prst="rect">
            <a:avLst/>
          </a:prstGeom>
        </p:spPr>
      </p:pic>
      <p:sp>
        <p:nvSpPr>
          <p:cNvPr id="2" name="TextBox 1">
            <a:extLst>
              <a:ext uri="{FF2B5EF4-FFF2-40B4-BE49-F238E27FC236}">
                <a16:creationId xmlns:a16="http://schemas.microsoft.com/office/drawing/2014/main" id="{CD5B4CF0-1E33-89EF-A2C6-EF842171AD6D}"/>
              </a:ext>
            </a:extLst>
          </p:cNvPr>
          <p:cNvSpPr txBox="1"/>
          <p:nvPr/>
        </p:nvSpPr>
        <p:spPr>
          <a:xfrm>
            <a:off x="1061357" y="152400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7684893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54510B61-66C3-BDF5-43C0-2AA03B2A8B7F}"/>
              </a:ext>
            </a:extLst>
          </p:cNvPr>
          <p:cNvPicPr>
            <a:picLocks noChangeAspect="1"/>
          </p:cNvPicPr>
          <p:nvPr/>
        </p:nvPicPr>
        <p:blipFill rotWithShape="1">
          <a:blip r:embed="rId2"/>
          <a:srcRect/>
          <a:stretch/>
        </p:blipFill>
        <p:spPr>
          <a:xfrm>
            <a:off x="20" y="10"/>
            <a:ext cx="12191980" cy="6857990"/>
          </a:xfrm>
          <a:prstGeom prst="rect">
            <a:avLst/>
          </a:prstGeom>
        </p:spPr>
      </p:pic>
      <p:sp>
        <p:nvSpPr>
          <p:cNvPr id="2" name="TextBox 1">
            <a:extLst>
              <a:ext uri="{FF2B5EF4-FFF2-40B4-BE49-F238E27FC236}">
                <a16:creationId xmlns:a16="http://schemas.microsoft.com/office/drawing/2014/main" id="{FB04FDFF-F5A2-3F64-0318-3D5867B9148E}"/>
              </a:ext>
            </a:extLst>
          </p:cNvPr>
          <p:cNvSpPr txBox="1"/>
          <p:nvPr/>
        </p:nvSpPr>
        <p:spPr>
          <a:xfrm>
            <a:off x="789214" y="1006928"/>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25375784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C0DDC320-39DB-A697-CD9D-BC69050D863C}"/>
              </a:ext>
            </a:extLst>
          </p:cNvPr>
          <p:cNvPicPr>
            <a:picLocks noChangeAspect="1"/>
          </p:cNvPicPr>
          <p:nvPr/>
        </p:nvPicPr>
        <p:blipFill rotWithShape="1">
          <a:blip r:embed="rId2"/>
          <a:srcRect/>
          <a:stretch/>
        </p:blipFill>
        <p:spPr>
          <a:xfrm>
            <a:off x="20" y="10"/>
            <a:ext cx="12191980" cy="6857990"/>
          </a:xfrm>
          <a:prstGeom prst="rect">
            <a:avLst/>
          </a:prstGeom>
        </p:spPr>
      </p:pic>
    </p:spTree>
    <p:extLst>
      <p:ext uri="{BB962C8B-B14F-4D97-AF65-F5344CB8AC3E}">
        <p14:creationId xmlns:p14="http://schemas.microsoft.com/office/powerpoint/2010/main" val="12558724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Isosceles Triangle 21">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4" name="Rectangle 23">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6" name="Rectangle 25">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32"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Isosceles Triangle 35">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8"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0" name="Isosceles Triangle 39">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2" name="Freeform: Shape 41">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A1029DE6-B62E-81E2-733C-2924B1EE5659}"/>
              </a:ext>
            </a:extLst>
          </p:cNvPr>
          <p:cNvSpPr txBox="1"/>
          <p:nvPr/>
        </p:nvSpPr>
        <p:spPr>
          <a:xfrm>
            <a:off x="879741" y="1323974"/>
            <a:ext cx="3224250" cy="3164418"/>
          </a:xfrm>
          <a:prstGeom prst="rect">
            <a:avLst/>
          </a:prstGeom>
        </p:spPr>
        <p:txBody>
          <a:bodyPr vert="horz" lIns="91440" tIns="45720" rIns="91440" bIns="45720" rtlCol="0" anchor="ctr">
            <a:normAutofit/>
          </a:bodyPr>
          <a:lstStyle/>
          <a:p>
            <a:pPr>
              <a:spcBef>
                <a:spcPct val="0"/>
              </a:spcBef>
              <a:spcAft>
                <a:spcPts val="600"/>
              </a:spcAft>
            </a:pPr>
            <a:r>
              <a:rPr lang="en-US" sz="3600" dirty="0">
                <a:solidFill>
                  <a:schemeClr val="tx1">
                    <a:lumMod val="85000"/>
                    <a:lumOff val="15000"/>
                  </a:schemeClr>
                </a:solidFill>
                <a:latin typeface="+mj-lt"/>
                <a:ea typeface="+mj-ea"/>
                <a:cs typeface="+mj-cs"/>
              </a:rPr>
              <a:t>	</a:t>
            </a:r>
            <a:r>
              <a:rPr lang="en-US" sz="3600" b="1" u="sng" dirty="0">
                <a:solidFill>
                  <a:schemeClr val="tx1">
                    <a:lumMod val="85000"/>
                    <a:lumOff val="15000"/>
                  </a:schemeClr>
                </a:solidFill>
                <a:latin typeface="+mj-lt"/>
                <a:ea typeface="+mj-ea"/>
                <a:cs typeface="+mj-cs"/>
              </a:rPr>
              <a:t>Conclusion:</a:t>
            </a:r>
          </a:p>
        </p:txBody>
      </p:sp>
      <p:sp>
        <p:nvSpPr>
          <p:cNvPr id="7" name="TextBox 6">
            <a:extLst>
              <a:ext uri="{FF2B5EF4-FFF2-40B4-BE49-F238E27FC236}">
                <a16:creationId xmlns:a16="http://schemas.microsoft.com/office/drawing/2014/main" id="{C5CCF901-DC9C-ECBD-0117-BEED6D6FFE02}"/>
              </a:ext>
            </a:extLst>
          </p:cNvPr>
          <p:cNvSpPr txBox="1"/>
          <p:nvPr/>
        </p:nvSpPr>
        <p:spPr>
          <a:xfrm>
            <a:off x="5544585" y="859631"/>
            <a:ext cx="6380451" cy="5545667"/>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42900" indent="-342900">
              <a:lnSpc>
                <a:spcPct val="90000"/>
              </a:lnSpc>
              <a:spcBef>
                <a:spcPts val="1000"/>
              </a:spcBef>
              <a:buClr>
                <a:schemeClr val="accent1"/>
              </a:buClr>
              <a:buSzPct val="80000"/>
              <a:buFont typeface="Wingdings" charset="2"/>
              <a:buChar char="Ø"/>
            </a:pPr>
            <a:r>
              <a:rPr lang="en-US" sz="2000" b="1" dirty="0">
                <a:solidFill>
                  <a:schemeClr val="bg1">
                    <a:lumMod val="95000"/>
                    <a:lumOff val="5000"/>
                  </a:schemeClr>
                </a:solidFill>
              </a:rPr>
              <a:t>Combating Data Abuse and Empowering AI:</a:t>
            </a:r>
            <a:r>
              <a:rPr lang="en-US" sz="2000" dirty="0">
                <a:solidFill>
                  <a:schemeClr val="bg1">
                    <a:lumMod val="95000"/>
                    <a:lumOff val="5000"/>
                  </a:schemeClr>
                </a:solidFill>
              </a:rPr>
              <a:t> </a:t>
            </a:r>
            <a:r>
              <a:rPr lang="en-US" sz="2000" dirty="0" err="1">
                <a:solidFill>
                  <a:schemeClr val="bg1">
                    <a:lumMod val="95000"/>
                    <a:lumOff val="5000"/>
                  </a:schemeClr>
                </a:solidFill>
              </a:rPr>
              <a:t>SecNet</a:t>
            </a:r>
            <a:r>
              <a:rPr lang="en-US" sz="2000" dirty="0">
                <a:solidFill>
                  <a:schemeClr val="bg1">
                    <a:lumMod val="95000"/>
                    <a:lumOff val="5000"/>
                  </a:schemeClr>
                </a:solidFill>
              </a:rPr>
              <a:t> aims to address data abuse and empower AI in untrusted environments. It focuses on secure data storage, sharing, and computation instead of just communication.</a:t>
            </a:r>
            <a:endParaRPr lang="en-US">
              <a:solidFill>
                <a:schemeClr val="bg1">
                  <a:lumMod val="95000"/>
                  <a:lumOff val="5000"/>
                </a:schemeClr>
              </a:solidFill>
            </a:endParaRPr>
          </a:p>
          <a:p>
            <a:pPr marL="342900" indent="-342900">
              <a:lnSpc>
                <a:spcPct val="90000"/>
              </a:lnSpc>
              <a:spcBef>
                <a:spcPts val="1000"/>
              </a:spcBef>
              <a:buClr>
                <a:schemeClr val="accent1"/>
              </a:buClr>
              <a:buSzPct val="80000"/>
              <a:buFont typeface="Wingdings" charset="2"/>
              <a:buChar char="Ø"/>
            </a:pPr>
            <a:r>
              <a:rPr lang="en-US" sz="2000" b="1" dirty="0">
                <a:solidFill>
                  <a:schemeClr val="bg1">
                    <a:lumMod val="95000"/>
                    <a:lumOff val="5000"/>
                  </a:schemeClr>
                </a:solidFill>
              </a:rPr>
              <a:t>Core Technologies:</a:t>
            </a:r>
            <a:r>
              <a:rPr lang="en-US" sz="2000" dirty="0">
                <a:solidFill>
                  <a:schemeClr val="bg1">
                    <a:lumMod val="95000"/>
                    <a:lumOff val="5000"/>
                  </a:schemeClr>
                </a:solidFill>
              </a:rPr>
              <a:t> </a:t>
            </a:r>
            <a:r>
              <a:rPr lang="en-US" sz="2000" dirty="0" err="1">
                <a:solidFill>
                  <a:schemeClr val="bg1">
                    <a:lumMod val="95000"/>
                    <a:lumOff val="5000"/>
                  </a:schemeClr>
                </a:solidFill>
              </a:rPr>
              <a:t>SecNet</a:t>
            </a:r>
            <a:r>
              <a:rPr lang="en-US" sz="2000" dirty="0">
                <a:solidFill>
                  <a:schemeClr val="bg1">
                    <a:lumMod val="95000"/>
                    <a:lumOff val="5000"/>
                  </a:schemeClr>
                </a:solidFill>
              </a:rPr>
              <a:t> leverages three key technologies:</a:t>
            </a:r>
          </a:p>
          <a:p>
            <a:pPr marL="342900" indent="-342900">
              <a:lnSpc>
                <a:spcPct val="90000"/>
              </a:lnSpc>
              <a:spcBef>
                <a:spcPts val="1000"/>
              </a:spcBef>
              <a:buClr>
                <a:schemeClr val="accent1"/>
              </a:buClr>
              <a:buSzPct val="80000"/>
              <a:buFont typeface="Wingdings" charset="2"/>
              <a:buChar char="Ø"/>
            </a:pPr>
            <a:endParaRPr lang="en-US" sz="2000" dirty="0">
              <a:solidFill>
                <a:schemeClr val="bg1">
                  <a:lumMod val="95000"/>
                  <a:lumOff val="5000"/>
                </a:schemeClr>
              </a:solidFill>
            </a:endParaRPr>
          </a:p>
          <a:p>
            <a:pPr marL="342900" indent="-342900">
              <a:lnSpc>
                <a:spcPct val="90000"/>
              </a:lnSpc>
              <a:spcBef>
                <a:spcPts val="1000"/>
              </a:spcBef>
              <a:buClr>
                <a:schemeClr val="accent1"/>
              </a:buClr>
              <a:buSzPct val="80000"/>
              <a:buFont typeface="Wingdings" charset="2"/>
              <a:buChar char="Ø"/>
            </a:pPr>
            <a:endParaRPr lang="en-US" sz="2000" dirty="0">
              <a:solidFill>
                <a:schemeClr val="bg1">
                  <a:lumMod val="95000"/>
                  <a:lumOff val="5000"/>
                </a:schemeClr>
              </a:solidFill>
            </a:endParaRPr>
          </a:p>
          <a:p>
            <a:pPr marL="342900" indent="-342900">
              <a:lnSpc>
                <a:spcPct val="90000"/>
              </a:lnSpc>
              <a:spcBef>
                <a:spcPts val="1000"/>
              </a:spcBef>
              <a:buClr>
                <a:schemeClr val="accent1"/>
              </a:buClr>
              <a:buSzPct val="80000"/>
              <a:buFont typeface="Wingdings" charset="2"/>
              <a:buChar char="Ø"/>
            </a:pPr>
            <a:endParaRPr lang="en-US" sz="2000" dirty="0">
              <a:solidFill>
                <a:schemeClr val="bg1">
                  <a:lumMod val="95000"/>
                  <a:lumOff val="5000"/>
                </a:schemeClr>
              </a:solidFill>
            </a:endParaRPr>
          </a:p>
          <a:p>
            <a:pPr marL="342900" indent="-342900">
              <a:lnSpc>
                <a:spcPct val="90000"/>
              </a:lnSpc>
              <a:spcBef>
                <a:spcPts val="1000"/>
              </a:spcBef>
              <a:buClr>
                <a:schemeClr val="accent1"/>
              </a:buClr>
              <a:buSzPct val="80000"/>
              <a:buFont typeface="Wingdings" charset="2"/>
              <a:buChar char="Ø"/>
            </a:pPr>
            <a:endParaRPr lang="en-US" sz="2000" dirty="0">
              <a:solidFill>
                <a:schemeClr val="bg1">
                  <a:lumMod val="95000"/>
                  <a:lumOff val="5000"/>
                </a:schemeClr>
              </a:solidFill>
            </a:endParaRPr>
          </a:p>
          <a:p>
            <a:pPr marL="342900" indent="-342900">
              <a:lnSpc>
                <a:spcPct val="90000"/>
              </a:lnSpc>
              <a:spcBef>
                <a:spcPts val="1000"/>
              </a:spcBef>
              <a:buClr>
                <a:schemeClr val="accent1"/>
              </a:buClr>
              <a:buSzPct val="80000"/>
              <a:buFont typeface="Wingdings" charset="2"/>
              <a:buChar char="Ø"/>
            </a:pPr>
            <a:endParaRPr lang="en-US" sz="2000" dirty="0">
              <a:solidFill>
                <a:schemeClr val="bg1">
                  <a:lumMod val="95000"/>
                  <a:lumOff val="5000"/>
                </a:schemeClr>
              </a:solidFill>
            </a:endParaRPr>
          </a:p>
          <a:p>
            <a:pPr marL="342900" indent="-342900">
              <a:lnSpc>
                <a:spcPct val="90000"/>
              </a:lnSpc>
              <a:spcBef>
                <a:spcPts val="1000"/>
              </a:spcBef>
              <a:buClr>
                <a:schemeClr val="accent1"/>
              </a:buClr>
              <a:buSzPct val="80000"/>
              <a:buFont typeface="Wingdings" charset="2"/>
              <a:buChar char="Ø"/>
            </a:pPr>
            <a:endParaRPr lang="en-US" sz="2000" dirty="0">
              <a:solidFill>
                <a:schemeClr val="bg1">
                  <a:lumMod val="95000"/>
                  <a:lumOff val="5000"/>
                </a:schemeClr>
              </a:solidFill>
            </a:endParaRPr>
          </a:p>
          <a:p>
            <a:pPr marL="342900" indent="-342900">
              <a:lnSpc>
                <a:spcPct val="90000"/>
              </a:lnSpc>
              <a:spcBef>
                <a:spcPts val="1000"/>
              </a:spcBef>
              <a:buClr>
                <a:schemeClr val="accent1"/>
              </a:buClr>
              <a:buSzPct val="80000"/>
              <a:buFont typeface="Wingdings" charset="2"/>
              <a:buChar char="Ø"/>
            </a:pPr>
            <a:r>
              <a:rPr lang="en-US" sz="2000" b="1" dirty="0">
                <a:solidFill>
                  <a:schemeClr val="bg1">
                    <a:lumMod val="95000"/>
                    <a:lumOff val="5000"/>
                  </a:schemeClr>
                </a:solidFill>
              </a:rPr>
              <a:t>Applications and Transparency:</a:t>
            </a:r>
            <a:r>
              <a:rPr lang="en-US" sz="2000" dirty="0">
                <a:solidFill>
                  <a:schemeClr val="bg1">
                    <a:lumMod val="95000"/>
                    <a:lumOff val="5000"/>
                  </a:schemeClr>
                </a:solidFill>
              </a:rPr>
              <a:t> </a:t>
            </a:r>
            <a:r>
              <a:rPr lang="en-US" sz="2000" dirty="0" err="1">
                <a:solidFill>
                  <a:schemeClr val="bg1">
                    <a:lumMod val="95000"/>
                    <a:lumOff val="5000"/>
                  </a:schemeClr>
                </a:solidFill>
              </a:rPr>
              <a:t>SecNet's</a:t>
            </a:r>
            <a:r>
              <a:rPr lang="en-US" sz="2000" dirty="0">
                <a:solidFill>
                  <a:schemeClr val="bg1">
                    <a:lumMod val="95000"/>
                    <a:lumOff val="5000"/>
                  </a:schemeClr>
                </a:solidFill>
              </a:rPr>
              <a:t> use case is explored in healthcare, but its secure storage functionality can be applied in various scenarios. Patients can view a hash code (unique identifier) for their data and their data access rewards.</a:t>
            </a:r>
          </a:p>
          <a:p>
            <a:pPr marL="342900" indent="-342900">
              <a:lnSpc>
                <a:spcPct val="90000"/>
              </a:lnSpc>
              <a:spcBef>
                <a:spcPts val="1000"/>
              </a:spcBef>
              <a:buClr>
                <a:schemeClr val="accent1"/>
              </a:buClr>
              <a:buSzPct val="80000"/>
              <a:buFont typeface="Wingdings" charset="2"/>
              <a:buChar char="Ø"/>
            </a:pPr>
            <a:endParaRPr lang="en-US" sz="2000" dirty="0">
              <a:solidFill>
                <a:srgbClr val="FFFFFF"/>
              </a:solidFill>
            </a:endParaRPr>
          </a:p>
        </p:txBody>
      </p:sp>
      <p:graphicFrame>
        <p:nvGraphicFramePr>
          <p:cNvPr id="46" name="TextBox 3">
            <a:extLst>
              <a:ext uri="{FF2B5EF4-FFF2-40B4-BE49-F238E27FC236}">
                <a16:creationId xmlns:a16="http://schemas.microsoft.com/office/drawing/2014/main" id="{3476AB3F-B2DD-B959-E5F0-1C469FD1DA55}"/>
              </a:ext>
            </a:extLst>
          </p:cNvPr>
          <p:cNvGraphicFramePr/>
          <p:nvPr/>
        </p:nvGraphicFramePr>
        <p:xfrm>
          <a:off x="5854900" y="2187773"/>
          <a:ext cx="6076946" cy="28894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6853342"/>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 name="Straight Connector 8">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0" name="Rectangle 1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2" name="Rectangle 21">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Isosceles Triangle 31">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Isosceles Triangle 35">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8" name="Freeform: Shape 37">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59A4E7ED-3F20-C2E6-A586-01E268B6FACE}"/>
              </a:ext>
            </a:extLst>
          </p:cNvPr>
          <p:cNvSpPr txBox="1"/>
          <p:nvPr/>
        </p:nvSpPr>
        <p:spPr>
          <a:xfrm>
            <a:off x="677334" y="609599"/>
            <a:ext cx="3843375" cy="5545667"/>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spcBef>
                <a:spcPct val="0"/>
              </a:spcBef>
              <a:spcAft>
                <a:spcPts val="600"/>
              </a:spcAft>
            </a:pPr>
            <a:r>
              <a:rPr lang="en-US" sz="3600" b="1" u="sng">
                <a:solidFill>
                  <a:schemeClr val="tx1">
                    <a:lumMod val="85000"/>
                    <a:lumOff val="15000"/>
                  </a:schemeClr>
                </a:solidFill>
                <a:latin typeface="+mj-lt"/>
                <a:ea typeface="+mj-ea"/>
                <a:cs typeface="+mj-cs"/>
              </a:rPr>
              <a:t>References:</a:t>
            </a:r>
          </a:p>
        </p:txBody>
      </p:sp>
      <p:sp>
        <p:nvSpPr>
          <p:cNvPr id="4" name="TextBox 3">
            <a:extLst>
              <a:ext uri="{FF2B5EF4-FFF2-40B4-BE49-F238E27FC236}">
                <a16:creationId xmlns:a16="http://schemas.microsoft.com/office/drawing/2014/main" id="{CE87B1E5-8E6E-A526-786B-618C72E78703}"/>
              </a:ext>
            </a:extLst>
          </p:cNvPr>
          <p:cNvSpPr txBox="1"/>
          <p:nvPr/>
        </p:nvSpPr>
        <p:spPr>
          <a:xfrm>
            <a:off x="5706593" y="305362"/>
            <a:ext cx="6228232" cy="62478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
            </a:pPr>
            <a:r>
              <a:rPr lang="en-US" sz="2000" dirty="0">
                <a:solidFill>
                  <a:schemeClr val="bg1"/>
                </a:solidFill>
                <a:ea typeface="+mn-lt"/>
                <a:cs typeface="+mn-lt"/>
              </a:rPr>
              <a:t>https://www.python.org/downloads</a:t>
            </a:r>
          </a:p>
          <a:p>
            <a:pPr marL="285750" indent="-285750">
              <a:buFont typeface="Wingdings"/>
              <a:buChar char="§"/>
            </a:pPr>
            <a:endParaRPr lang="en-US" sz="2000" dirty="0">
              <a:solidFill>
                <a:schemeClr val="bg1"/>
              </a:solidFill>
              <a:ea typeface="+mn-lt"/>
              <a:cs typeface="+mn-lt"/>
            </a:endParaRPr>
          </a:p>
          <a:p>
            <a:pPr marL="285750" indent="-285750">
              <a:buFont typeface="Wingdings"/>
              <a:buChar char="§"/>
            </a:pPr>
            <a:r>
              <a:rPr lang="en-US" sz="2000" dirty="0">
                <a:solidFill>
                  <a:schemeClr val="bg1"/>
                </a:solidFill>
                <a:ea typeface="+mn-lt"/>
                <a:cs typeface="+mn-lt"/>
              </a:rPr>
              <a:t> https://www.jetbrains.com/pycharm</a:t>
            </a:r>
          </a:p>
          <a:p>
            <a:pPr marL="285750" indent="-285750">
              <a:buFont typeface="Wingdings"/>
              <a:buChar char="§"/>
            </a:pPr>
            <a:endParaRPr lang="en-US" sz="2000" dirty="0">
              <a:solidFill>
                <a:schemeClr val="bg1"/>
              </a:solidFill>
              <a:ea typeface="+mn-lt"/>
              <a:cs typeface="+mn-lt"/>
            </a:endParaRPr>
          </a:p>
          <a:p>
            <a:pPr marL="285750" indent="-285750">
              <a:buFont typeface="Wingdings"/>
              <a:buChar char="§"/>
            </a:pPr>
            <a:r>
              <a:rPr lang="en-US" sz="2000" dirty="0">
                <a:solidFill>
                  <a:schemeClr val="bg1"/>
                </a:solidFill>
                <a:ea typeface="+mn-lt"/>
                <a:cs typeface="+mn-lt"/>
              </a:rPr>
              <a:t> https://www.djangoproject.com</a:t>
            </a:r>
          </a:p>
          <a:p>
            <a:pPr marL="285750" indent="-285750">
              <a:buFont typeface="Wingdings"/>
              <a:buChar char="§"/>
            </a:pPr>
            <a:endParaRPr lang="en-US" sz="2000" dirty="0">
              <a:solidFill>
                <a:schemeClr val="bg1"/>
              </a:solidFill>
              <a:ea typeface="+mn-lt"/>
              <a:cs typeface="+mn-lt"/>
            </a:endParaRPr>
          </a:p>
          <a:p>
            <a:pPr marL="285750" indent="-285750">
              <a:buFont typeface="Wingdings"/>
              <a:buChar char="§"/>
            </a:pPr>
            <a:r>
              <a:rPr lang="en-US" sz="2000" dirty="0">
                <a:solidFill>
                  <a:schemeClr val="bg1"/>
                </a:solidFill>
                <a:ea typeface="+mn-lt"/>
                <a:cs typeface="+mn-lt"/>
              </a:rPr>
              <a:t> https://www.tutorialspoint.com/python_blockchain/index.htm </a:t>
            </a:r>
          </a:p>
          <a:p>
            <a:pPr marL="285750" indent="-285750">
              <a:buFont typeface="Wingdings"/>
              <a:buChar char="§"/>
            </a:pPr>
            <a:endParaRPr lang="en-US" sz="2000" dirty="0">
              <a:solidFill>
                <a:schemeClr val="bg1"/>
              </a:solidFill>
              <a:ea typeface="+mn-lt"/>
              <a:cs typeface="+mn-lt"/>
            </a:endParaRPr>
          </a:p>
          <a:p>
            <a:pPr marL="285750" indent="-285750">
              <a:buFont typeface="Wingdings"/>
              <a:buChar char="§"/>
            </a:pPr>
            <a:r>
              <a:rPr lang="en-US" sz="2000" dirty="0">
                <a:solidFill>
                  <a:schemeClr val="bg1"/>
                </a:solidFill>
                <a:ea typeface="+mn-lt"/>
                <a:cs typeface="+mn-lt"/>
              </a:rPr>
              <a:t> https://www.tutorialspoint.com/artificial_intelligence_with_python/artificial_intelligence_with_python_heuristic_search.htm </a:t>
            </a:r>
          </a:p>
          <a:p>
            <a:pPr marL="285750" indent="-285750">
              <a:buFont typeface="Wingdings"/>
              <a:buChar char="§"/>
            </a:pPr>
            <a:endParaRPr lang="en-US" sz="2000" dirty="0">
              <a:solidFill>
                <a:schemeClr val="bg1"/>
              </a:solidFill>
              <a:ea typeface="+mn-lt"/>
              <a:cs typeface="+mn-lt"/>
            </a:endParaRPr>
          </a:p>
          <a:p>
            <a:pPr marL="285750" indent="-285750">
              <a:buFont typeface="Wingdings"/>
              <a:buChar char="§"/>
            </a:pPr>
            <a:r>
              <a:rPr lang="en-US" sz="2000" dirty="0">
                <a:solidFill>
                  <a:schemeClr val="bg1"/>
                </a:solidFill>
                <a:ea typeface="+mn-lt"/>
                <a:cs typeface="+mn-lt"/>
              </a:rPr>
              <a:t>https://www.w3schools.com/MySQL/default.asp </a:t>
            </a:r>
          </a:p>
          <a:p>
            <a:pPr marL="285750" indent="-285750">
              <a:buFont typeface="Wingdings"/>
              <a:buChar char="§"/>
            </a:pPr>
            <a:endParaRPr lang="en-US" sz="2000" dirty="0">
              <a:solidFill>
                <a:schemeClr val="bg1"/>
              </a:solidFill>
              <a:ea typeface="+mn-lt"/>
              <a:cs typeface="+mn-lt"/>
            </a:endParaRPr>
          </a:p>
          <a:p>
            <a:pPr marL="285750" indent="-285750">
              <a:buFont typeface="Wingdings"/>
              <a:buChar char="§"/>
            </a:pPr>
            <a:r>
              <a:rPr lang="en-US" sz="2000" dirty="0">
                <a:solidFill>
                  <a:schemeClr val="bg1"/>
                </a:solidFill>
                <a:ea typeface="+mn-lt"/>
                <a:cs typeface="+mn-lt"/>
              </a:rPr>
              <a:t> https://pynative.com/python-mysql-database-connection</a:t>
            </a:r>
          </a:p>
          <a:p>
            <a:pPr marL="285750" indent="-285750">
              <a:buFont typeface="Wingdings"/>
              <a:buChar char="§"/>
            </a:pPr>
            <a:endParaRPr lang="en-US" sz="2000" dirty="0">
              <a:solidFill>
                <a:schemeClr val="bg1"/>
              </a:solidFill>
              <a:ea typeface="+mn-lt"/>
              <a:cs typeface="+mn-lt"/>
            </a:endParaRPr>
          </a:p>
          <a:p>
            <a:pPr marL="285750" indent="-285750">
              <a:buFont typeface="Wingdings"/>
              <a:buChar char="§"/>
            </a:pPr>
            <a:r>
              <a:rPr lang="en-US" sz="2000" dirty="0">
                <a:solidFill>
                  <a:schemeClr val="bg1"/>
                </a:solidFill>
                <a:ea typeface="+mn-lt"/>
                <a:cs typeface="+mn-lt"/>
              </a:rPr>
              <a:t> https://www.javatpoint.com/blockchain-hash-function</a:t>
            </a:r>
            <a:endParaRPr lang="en-US" sz="2000">
              <a:solidFill>
                <a:schemeClr val="bg1"/>
              </a:solidFill>
            </a:endParaRPr>
          </a:p>
        </p:txBody>
      </p:sp>
    </p:spTree>
    <p:extLst>
      <p:ext uri="{BB962C8B-B14F-4D97-AF65-F5344CB8AC3E}">
        <p14:creationId xmlns:p14="http://schemas.microsoft.com/office/powerpoint/2010/main" val="1899132830"/>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3" name="Rectangle 2072">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75" name="Group 2074">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076" name="Straight Connector 2075">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077"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78"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79" name="Isosceles Triangle 2078">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80"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81"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82"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83" name="Isosceles Triangle 2082">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84" name="Isosceles Triangle 2083">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086" name="Rectangle 2085">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8301227"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ank You for Your Patience. Thank You for Your Patience | by Nita Sweeney  | Medium">
            <a:extLst>
              <a:ext uri="{FF2B5EF4-FFF2-40B4-BE49-F238E27FC236}">
                <a16:creationId xmlns:a16="http://schemas.microsoft.com/office/drawing/2014/main" id="{901E82C9-D746-07E1-8AE2-5D3704458CF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663" t="6281" r="3864" b="14110"/>
          <a:stretch/>
        </p:blipFill>
        <p:spPr bwMode="auto">
          <a:xfrm>
            <a:off x="1347385" y="1131994"/>
            <a:ext cx="6561412" cy="4590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725838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Application>Microsoft Office PowerPoint</Application>
  <PresentationFormat>Widescreen</PresentationFormat>
  <Slides>29</Slides>
  <Notes>0</Notes>
  <HiddenSlides>0</HiddenSlide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srinivas mathi</dc:creator>
  <cp:revision>1073</cp:revision>
  <dcterms:created xsi:type="dcterms:W3CDTF">2024-04-13T08:29:07Z</dcterms:created>
  <dcterms:modified xsi:type="dcterms:W3CDTF">2024-05-19T17:33:11Z</dcterms:modified>
</cp:coreProperties>
</file>